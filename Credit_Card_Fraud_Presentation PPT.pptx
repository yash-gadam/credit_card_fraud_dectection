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4"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741" autoAdjust="0"/>
  </p:normalViewPr>
  <p:slideViewPr>
    <p:cSldViewPr snapToGrid="0" snapToObjects="1">
      <p:cViewPr varScale="1">
        <p:scale>
          <a:sx n="66" d="100"/>
          <a:sy n="66" d="100"/>
        </p:scale>
        <p:origin x="1280"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6645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presentation, the focus is on detecting credit card fraud with the help of machine learning. Due to the blistering development of online payments, fraud has become a significant issue in terms of money. This paper analyses various machine learning algorithms to identify fraudulent transactions. The project is based on real-world datasets and aims at improving detection accuracy and solving such problems as the imbalance between classes and the evaluation of models.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Credit card fraud has increased with the increase in online transactions. The conventional fraud detection systems are based on predetermined rules that do not fit the changing trends of fraud. These systems tend to give a lot of false positives and are not flexible. Thus, fraud detection needs to be done more efficiently and precisely in real-time financial settings with intelligent machine learning solutions.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primary aim of this research is to come up with machine learning models to identify fraudulent transactions. The project is a comparison between Logistic Regression, Random Forest, and XGBoost algorithms. It is also concerned with dealing with the imbalance in classes, which is a significant problem with fraud datasets. The objective is to enhance the quality of detection whilst achieving a balance in precision and recall.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research questions that are answered in this study include the effectiveness of machine learning models in fraud detection. It also examines what features of transactions make the most contribution towards predictions. The other emphasis is on determining the most successful algorithm amongst the models of choice. Also, the paper investigates the most appropriate evaluation metrics when dealing with imbalanced data.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indicated in the literature review as the shift to machine learning systems as opposed to conventional rule-based systems. Random Forest and XGBoost ensemble models have performed better. One of the challenges found to be a big challenge is the imbalance of classes, of which fraud cases are very scarce. The review also highlights the use of such measures as precision, recall, and PR-AUC rather than focusing solely on accuracy.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present research, the experimental design is quantitative and is based on a real-life dataset obtained at Kaggle. Preprocessing of data involves scaling and cleaning of features. Stratified sampling is used to divide the dataset into training and testing sets. The performance metrics used to train and evaluate machine learning models are designed to guarantee reliable and unbiased outcomes.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Preprocessing of data plays a very crucial role in this project. The feature scaling is used to bring values to the normal level to enhance the performance of the model. There are no missing values in the dataset, making preprocessing easier. A train-test split of 80:20 is applied with stratification to keep the classes balanced. The transformation of data makes sure that features are valuable when training a model.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imbalance of classes is a crucial problem in fraud detection, as fraud is very infrequent. To counter this, the SMOTE algorithm is utilised to come up with artificial samples of the minority group. This equalises the dataset and aids models in learning fraud patterns more effectively. Caution is taken, though, to apply SMOTE only to training data to prevent leakage of data.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study, three machine learning models are used. Logistic Regression is used as a baseline model due to its simplicity. An ensemble model, Random Forest, is enhanced by decision trees, making it better. XGBoost is a Boosting algorithm and is very accurate in its predictions. Such models are compared to find the most effective one in detecting fraud.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findings indicate that Logistic Regression is highly recalled and low in precision, thus resulting in a high number of false positives. Random Forest offers both precision and recall results. XGBoost has the most optimal results with good predictive power. Another important conclusion of the study is that PR-AUC has proven to be a more accurate measure of model evaluation on imbalanced datasets than accuracy.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machine learning is a valuable tool in the detection of credit card fraud. Class imbalance is a critical issue to deal with to make reliable predictions. XGBoost is the most suitable model of all models tested. Nevertheless, it can be further enhanced, including the implementation of deep learning models and real-time systems. Other areas that can be discussed in future studies are to make the models more interpretable.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lvl="0"/>
            <a:r>
              <a:rPr lang="en-IN" sz="1200" u="none" strike="noStrike" kern="1200" dirty="0" err="1">
                <a:solidFill>
                  <a:schemeClr val="tx1"/>
                </a:solidFill>
                <a:effectLst/>
                <a:latin typeface="+mn-lt"/>
                <a:ea typeface="+mn-ea"/>
                <a:cs typeface="+mn-cs"/>
              </a:rPr>
              <a:t>Btoush</a:t>
            </a:r>
            <a:r>
              <a:rPr lang="en-IN" sz="1200" u="none" strike="noStrike" kern="1200" dirty="0">
                <a:solidFill>
                  <a:schemeClr val="tx1"/>
                </a:solidFill>
                <a:effectLst/>
                <a:latin typeface="+mn-lt"/>
                <a:ea typeface="+mn-ea"/>
                <a:cs typeface="+mn-cs"/>
              </a:rPr>
              <a:t>, E.A.L.M., Zhou, X., Gururajan, R., Chan, K.C., Genrich, R. and Sankaran, P., 2023. A systematic review of literature on credit card cyber fraud detection using machine and deep learning. </a:t>
            </a:r>
            <a:r>
              <a:rPr lang="en-IN" sz="1200" i="1" u="none" strike="noStrike" kern="1200" dirty="0" err="1">
                <a:solidFill>
                  <a:schemeClr val="tx1"/>
                </a:solidFill>
                <a:effectLst/>
                <a:latin typeface="+mn-lt"/>
                <a:ea typeface="+mn-ea"/>
                <a:cs typeface="+mn-cs"/>
              </a:rPr>
              <a:t>PeerJ</a:t>
            </a:r>
            <a:r>
              <a:rPr lang="en-IN" sz="1200" i="1" u="none" strike="noStrike" kern="1200" dirty="0">
                <a:solidFill>
                  <a:schemeClr val="tx1"/>
                </a:solidFill>
                <a:effectLst/>
                <a:latin typeface="+mn-lt"/>
                <a:ea typeface="+mn-ea"/>
                <a:cs typeface="+mn-cs"/>
              </a:rPr>
              <a:t> Computer Science</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9</a:t>
            </a:r>
            <a:r>
              <a:rPr lang="en-IN" sz="1200" u="none" strike="noStrike" kern="1200" dirty="0">
                <a:solidFill>
                  <a:schemeClr val="tx1"/>
                </a:solidFill>
                <a:effectLst/>
                <a:latin typeface="+mn-lt"/>
                <a:ea typeface="+mn-ea"/>
                <a:cs typeface="+mn-cs"/>
              </a:rPr>
              <a:t>, p.e1278.</a:t>
            </a:r>
          </a:p>
          <a:p>
            <a:pPr lvl="0"/>
            <a:r>
              <a:rPr lang="en-IN" sz="1200" u="none" strike="noStrike" kern="1200" dirty="0">
                <a:solidFill>
                  <a:schemeClr val="tx1"/>
                </a:solidFill>
                <a:effectLst/>
                <a:latin typeface="+mn-lt"/>
                <a:ea typeface="+mn-ea"/>
                <a:cs typeface="+mn-cs"/>
              </a:rPr>
              <a:t>Chhabra, R., Goswami, S. and Ranjan, R.K., 2024. A voting ensemble machine learning based credit card fraud detection using highly imbalance data. </a:t>
            </a:r>
            <a:r>
              <a:rPr lang="en-IN" sz="1200" i="1" u="none" strike="noStrike" kern="1200" dirty="0">
                <a:solidFill>
                  <a:schemeClr val="tx1"/>
                </a:solidFill>
                <a:effectLst/>
                <a:latin typeface="+mn-lt"/>
                <a:ea typeface="+mn-ea"/>
                <a:cs typeface="+mn-cs"/>
              </a:rPr>
              <a:t>Multimedia Tools and Applications</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83</a:t>
            </a:r>
            <a:r>
              <a:rPr lang="en-IN" sz="1200" u="none" strike="noStrike" kern="1200" dirty="0">
                <a:solidFill>
                  <a:schemeClr val="tx1"/>
                </a:solidFill>
                <a:effectLst/>
                <a:latin typeface="+mn-lt"/>
                <a:ea typeface="+mn-ea"/>
                <a:cs typeface="+mn-cs"/>
              </a:rPr>
              <a:t>(18), pp.54729-54753.</a:t>
            </a:r>
          </a:p>
          <a:p>
            <a:pPr lvl="0"/>
            <a:r>
              <a:rPr lang="en-IN" sz="1200" u="none" strike="noStrike" kern="1200" dirty="0">
                <a:solidFill>
                  <a:schemeClr val="tx1"/>
                </a:solidFill>
                <a:effectLst/>
                <a:latin typeface="+mn-lt"/>
                <a:ea typeface="+mn-ea"/>
                <a:cs typeface="+mn-cs"/>
              </a:rPr>
              <a:t>Dunleavy, P. and Margetts, H., 2025. Data science, artificial intelligence and the third wave of digital era governance. </a:t>
            </a:r>
            <a:r>
              <a:rPr lang="en-IN" sz="1200" i="1" u="none" strike="noStrike" kern="1200" dirty="0">
                <a:solidFill>
                  <a:schemeClr val="tx1"/>
                </a:solidFill>
                <a:effectLst/>
                <a:latin typeface="+mn-lt"/>
                <a:ea typeface="+mn-ea"/>
                <a:cs typeface="+mn-cs"/>
              </a:rPr>
              <a:t>Public Policy and Administration</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40</a:t>
            </a:r>
            <a:r>
              <a:rPr lang="en-IN" sz="1200" u="none" strike="noStrike" kern="1200" dirty="0">
                <a:solidFill>
                  <a:schemeClr val="tx1"/>
                </a:solidFill>
                <a:effectLst/>
                <a:latin typeface="+mn-lt"/>
                <a:ea typeface="+mn-ea"/>
                <a:cs typeface="+mn-cs"/>
              </a:rPr>
              <a:t>(2), pp.185-214.</a:t>
            </a:r>
          </a:p>
          <a:p>
            <a:pPr lvl="0"/>
            <a:r>
              <a:rPr lang="en-IN" sz="1200" u="none" strike="noStrike" kern="1200" dirty="0">
                <a:solidFill>
                  <a:schemeClr val="tx1"/>
                </a:solidFill>
                <a:effectLst/>
                <a:latin typeface="+mn-lt"/>
                <a:ea typeface="+mn-ea"/>
                <a:cs typeface="+mn-cs"/>
              </a:rPr>
              <a:t>Faraji, Z., 2022. A Review of Machine Learning Applications for Credit Card Fraud Detection with A Case study. </a:t>
            </a:r>
            <a:r>
              <a:rPr lang="en-IN" sz="1200" i="1" u="none" strike="noStrike" kern="1200" dirty="0">
                <a:solidFill>
                  <a:schemeClr val="tx1"/>
                </a:solidFill>
                <a:effectLst/>
                <a:latin typeface="+mn-lt"/>
                <a:ea typeface="+mn-ea"/>
                <a:cs typeface="+mn-cs"/>
              </a:rPr>
              <a:t>SEISENSE Journal of Management</a:t>
            </a:r>
            <a:r>
              <a:rPr lang="en-IN" sz="1200" u="none" strike="noStrike" kern="1200" dirty="0">
                <a:solidFill>
                  <a:schemeClr val="tx1"/>
                </a:solidFill>
                <a:effectLst/>
                <a:latin typeface="+mn-lt"/>
                <a:ea typeface="+mn-ea"/>
                <a:cs typeface="+mn-cs"/>
              </a:rPr>
              <a:t>, </a:t>
            </a:r>
            <a:r>
              <a:rPr lang="en-IN" sz="1200" i="1" u="none" strike="noStrike" kern="1200" dirty="0">
                <a:solidFill>
                  <a:schemeClr val="tx1"/>
                </a:solidFill>
                <a:effectLst/>
                <a:latin typeface="+mn-lt"/>
                <a:ea typeface="+mn-ea"/>
                <a:cs typeface="+mn-cs"/>
              </a:rPr>
              <a:t>5</a:t>
            </a:r>
            <a:r>
              <a:rPr lang="en-IN" sz="1200" u="none" strike="noStrike" kern="1200" dirty="0">
                <a:solidFill>
                  <a:schemeClr val="tx1"/>
                </a:solidFill>
                <a:effectLst/>
                <a:latin typeface="+mn-lt"/>
                <a:ea typeface="+mn-ea"/>
                <a:cs typeface="+mn-cs"/>
              </a:rPr>
              <a:t>(1).</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0" y="2226503"/>
            <a:ext cx="5917679" cy="2550877"/>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0" y="4777380"/>
            <a:ext cx="5917679"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98080" y="1828800"/>
            <a:ext cx="990599" cy="228659"/>
          </a:xfrm>
        </p:spPr>
        <p:txBody>
          <a:bodyPr anchor="t"/>
          <a:lstStyle>
            <a:lvl1pPr algn="l">
              <a:defRPr b="0" i="0">
                <a:solidFill>
                  <a:schemeClr val="bg1">
                    <a:alpha val="60000"/>
                  </a:schemeClr>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bwMode="gray">
          <a:xfrm rot="5400000">
            <a:off x="6236208" y="3264408"/>
            <a:ext cx="3859795" cy="228660"/>
          </a:xfrm>
        </p:spPr>
        <p:txBody>
          <a:bodyPr/>
          <a:lstStyle>
            <a:lvl1pPr>
              <a:defRPr b="0" i="0">
                <a:solidFill>
                  <a:schemeClr val="bg1">
                    <a:alpha val="60000"/>
                  </a:schemeClr>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8"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048534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65970" y="927098"/>
            <a:ext cx="6343672" cy="709865"/>
          </a:xfrm>
        </p:spPr>
        <p:txBody>
          <a:bodyPr anchor="ctr"/>
          <a:lstStyle>
            <a:lvl1pPr>
              <a:defRPr sz="32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533733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77534" y="2257588"/>
            <a:ext cx="3090672" cy="3020344"/>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82516" cy="302034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731491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200"/>
            <a:ext cx="3636980" cy="35306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1" y="2489203"/>
            <a:ext cx="3636980" cy="3530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754241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9918" y="2489200"/>
            <a:ext cx="3633502" cy="759290"/>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0"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6635"/>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5835"/>
            <a:ext cx="3636980" cy="27739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983817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678616" y="295730"/>
            <a:ext cx="791308" cy="767687"/>
          </a:xfrm>
          <a:prstGeom prst="rect">
            <a:avLst/>
          </a:prstGeom>
        </p:spPr>
        <p:txBody>
          <a:bodyPr anchor="b"/>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138466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fld id="{5BCAD085-E8A6-8845-BD4E-CB4CCA059FC4}" type="datetimeFigureOut">
              <a:rPr lang="en-US" smtClean="0"/>
              <a:t>4/16/2026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5656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7800"/>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1" y="3086845"/>
            <a:ext cx="2712589" cy="2933701"/>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86195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381390"/>
            <a:ext cx="2987089"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0" y="3086100"/>
            <a:ext cx="2987089" cy="24511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722845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4961454"/>
            <a:ext cx="642200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0" y="5528192"/>
            <a:ext cx="6422004"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4/16/2026</a:t>
            </a:fld>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423563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927100"/>
            <a:ext cx="6422005" cy="1692720"/>
          </a:xfrm>
        </p:spPr>
        <p:txBody>
          <a:bodyP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58569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1588" y="0"/>
            <a:ext cx="9145588" cy="6860798"/>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647430" y="651690"/>
            <a:ext cx="601591"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14" name="TextBox 13"/>
          <p:cNvSpPr txBox="1"/>
          <p:nvPr/>
        </p:nvSpPr>
        <p:spPr bwMode="gray">
          <a:xfrm>
            <a:off x="7069418" y="2900292"/>
            <a:ext cx="619063" cy="1323439"/>
          </a:xfrm>
          <a:prstGeom prst="rect">
            <a:avLst/>
          </a:prstGeom>
          <a:noFill/>
        </p:spPr>
        <p:txBody>
          <a:bodyPr wrap="square" rtlCol="0">
            <a:spAutoFit/>
          </a:bodyPr>
          <a:lstStyle/>
          <a:p>
            <a:pPr algn="r"/>
            <a:r>
              <a:rPr lang="en-US" sz="80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128060" y="927099"/>
            <a:ext cx="6160385" cy="2882179"/>
          </a:xfrm>
        </p:spPr>
        <p:txBody>
          <a:bodyPr anchor="ct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8" y="3809278"/>
            <a:ext cx="5646143" cy="333113"/>
          </a:xfrm>
        </p:spPr>
        <p:txBody>
          <a:bodyPr>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6"/>
            <a:ext cx="6343673" cy="1010619"/>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3925312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1588" y="0"/>
            <a:ext cx="9145588" cy="6860798"/>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2057400"/>
            <a:ext cx="6422005" cy="20955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676807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423593"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4"/>
            <a:ext cx="2313432"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5614"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1" y="3147164"/>
            <a:ext cx="2318918"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2489200"/>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0935" y="3147164"/>
            <a:ext cx="2316625"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87886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0" y="927100"/>
            <a:ext cx="6345260"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0" y="4179596"/>
            <a:ext cx="2313432"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Picture Placeholder 2"/>
          <p:cNvSpPr>
            <a:spLocks noGrp="1" noChangeAspect="1"/>
          </p:cNvSpPr>
          <p:nvPr>
            <p:ph type="pic" idx="15"/>
          </p:nvPr>
        </p:nvSpPr>
        <p:spPr>
          <a:xfrm>
            <a:off x="1019055"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9" y="4837558"/>
            <a:ext cx="231343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11125" y="4179595"/>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8" name="Picture Placeholder 2"/>
          <p:cNvSpPr>
            <a:spLocks noGrp="1" noChangeAspect="1"/>
          </p:cNvSpPr>
          <p:nvPr>
            <p:ph type="pic" idx="21"/>
          </p:nvPr>
        </p:nvSpPr>
        <p:spPr>
          <a:xfrm>
            <a:off x="3553189"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11125" y="484820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58642" y="4179596"/>
            <a:ext cx="2318918" cy="657962"/>
          </a:xfrm>
        </p:spPr>
        <p:txBody>
          <a:bodyPr anchor="b">
            <a:noAutofit/>
          </a:bodyPr>
          <a:lstStyle>
            <a:lvl1pPr marL="0" indent="0">
              <a:buNone/>
              <a:defRPr sz="20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Picture Placeholder 2"/>
          <p:cNvSpPr>
            <a:spLocks noGrp="1" noChangeAspect="1"/>
          </p:cNvSpPr>
          <p:nvPr>
            <p:ph type="pic" idx="22"/>
          </p:nvPr>
        </p:nvSpPr>
        <p:spPr>
          <a:xfrm>
            <a:off x="6108641" y="2489200"/>
            <a:ext cx="2015144"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58642" y="4837558"/>
            <a:ext cx="2318918"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0" name="Straight Connector 39"/>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4/16/2026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2139283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621301" y="6387910"/>
            <a:ext cx="990599" cy="228659"/>
          </a:xfrm>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a:xfrm>
            <a:off x="516133" y="6387910"/>
            <a:ext cx="3859795" cy="228660"/>
          </a:xfrm>
        </p:spPr>
        <p:txBody>
          <a:bodyPr/>
          <a:lstStyle/>
          <a:p>
            <a:endParaRPr lang="en-US"/>
          </a:p>
        </p:txBody>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826465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588" y="0"/>
            <a:ext cx="9120420" cy="6860798"/>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174928" y="1447799"/>
            <a:ext cx="1113516" cy="4572001"/>
          </a:xfrm>
        </p:spPr>
        <p:txBody>
          <a:bodyPr vert="eaVert" anchor="ctr"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738" y="1447799"/>
            <a:ext cx="4416936" cy="4572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4/16/2026</a:t>
            </a:fld>
            <a:endParaRPr lang="en-US"/>
          </a:p>
        </p:txBody>
      </p:sp>
      <p:sp>
        <p:nvSpPr>
          <p:cNvPr id="5" name="Footer Placeholder 4"/>
          <p:cNvSpPr>
            <a:spLocks noGrp="1"/>
          </p:cNvSpPr>
          <p:nvPr>
            <p:ph type="ftr" sz="quarter" idx="11"/>
          </p:nvPr>
        </p:nvSpPr>
        <p:spPr>
          <a:xfrm>
            <a:off x="538546" y="6365498"/>
            <a:ext cx="3859795" cy="228660"/>
          </a:xfrm>
        </p:spPr>
        <p:txBody>
          <a:bodyPr/>
          <a:lstStyle/>
          <a:p>
            <a:endParaRPr lang="en-US"/>
          </a:p>
        </p:txBody>
      </p:sp>
      <p:sp>
        <p:nvSpPr>
          <p:cNvPr id="9" name="Rectangle 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678616" y="295730"/>
            <a:ext cx="791308" cy="767687"/>
          </a:xfrm>
          <a:prstGeom prst="rect">
            <a:avLst/>
          </a:prstGeom>
        </p:spPr>
        <p:txBody>
          <a:bodyPr/>
          <a:lstStyle>
            <a:lvl1pPr algn="ct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14299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1588" y="0"/>
            <a:ext cx="9145588" cy="6860798"/>
            <a:chOff x="-1588" y="0"/>
            <a:chExt cx="9145588" cy="6860798"/>
          </a:xfrm>
        </p:grpSpPr>
        <p:sp>
          <p:nvSpPr>
            <p:cNvPr id="14" name="Rectangle 13"/>
            <p:cNvSpPr/>
            <p:nvPr/>
          </p:nvSpPr>
          <p:spPr>
            <a:xfrm>
              <a:off x="0" y="0"/>
              <a:ext cx="9118832"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5260"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4382" y="2489200"/>
            <a:ext cx="6345260"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74443" y="6365498"/>
            <a:ext cx="990599" cy="228659"/>
          </a:xfrm>
          <a:prstGeom prst="rect">
            <a:avLst/>
          </a:prstGeom>
        </p:spPr>
        <p:txBody>
          <a:bodyPr vert="horz" lIns="91440" tIns="45720" rIns="91440" bIns="45720" rtlCol="0" anchor="b"/>
          <a:lstStyle>
            <a:lvl1pPr algn="r">
              <a:defRPr sz="900" b="1" i="0">
                <a:solidFill>
                  <a:schemeClr val="accent1"/>
                </a:solidFill>
              </a:defRPr>
            </a:lvl1pPr>
          </a:lstStyle>
          <a:p>
            <a:fld id="{5BCAD085-E8A6-8845-BD4E-CB4CCA059FC4}" type="datetimeFigureOut">
              <a:rPr lang="en-US" smtClean="0"/>
              <a:t>4/16/2026</a:t>
            </a:fld>
            <a:endParaRPr lang="en-US"/>
          </a:p>
        </p:txBody>
      </p:sp>
      <p:sp>
        <p:nvSpPr>
          <p:cNvPr id="5" name="Footer Placeholder 4"/>
          <p:cNvSpPr>
            <a:spLocks noGrp="1"/>
          </p:cNvSpPr>
          <p:nvPr>
            <p:ph type="ftr" sz="quarter" idx="3"/>
          </p:nvPr>
        </p:nvSpPr>
        <p:spPr>
          <a:xfrm>
            <a:off x="590843" y="6365497"/>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6" name="Rectangle 2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8"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4053781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2800" b="1" dirty="0">
                <a:latin typeface="Times New Roman" panose="02020603050405020304" pitchFamily="18" charset="0"/>
                <a:cs typeface="Times New Roman" panose="02020603050405020304" pitchFamily="18" charset="0"/>
              </a:rPr>
              <a:t>CREDIT CARD FRAUD DETECTION USING MACHINE LEARNING</a:t>
            </a:r>
          </a:p>
        </p:txBody>
      </p:sp>
      <p:pic>
        <p:nvPicPr>
          <p:cNvPr id="1026" name="Picture 2">
            <a:extLst>
              <a:ext uri="{FF2B5EF4-FFF2-40B4-BE49-F238E27FC236}">
                <a16:creationId xmlns:a16="http://schemas.microsoft.com/office/drawing/2014/main" id="{4C7A6992-33E9-5672-CEE8-A76DECB8D7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47499" y="2839453"/>
            <a:ext cx="4649002" cy="2927820"/>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Expansion of online payment systems.</a:t>
            </a:r>
          </a:p>
          <a:p>
            <a:r>
              <a:rPr sz="2400" dirty="0">
                <a:latin typeface="Times New Roman" panose="02020603050405020304" pitchFamily="18" charset="0"/>
                <a:cs typeface="Times New Roman" panose="02020603050405020304" pitchFamily="18" charset="0"/>
              </a:rPr>
              <a:t>Increase in credit card fraud.</a:t>
            </a:r>
          </a:p>
          <a:p>
            <a:r>
              <a:rPr sz="2400" dirty="0">
                <a:latin typeface="Times New Roman" panose="02020603050405020304" pitchFamily="18" charset="0"/>
                <a:cs typeface="Times New Roman" panose="02020603050405020304" pitchFamily="18" charset="0"/>
              </a:rPr>
              <a:t>Weakness of conventional approaches.</a:t>
            </a:r>
          </a:p>
          <a:p>
            <a:r>
              <a:rPr sz="2400" dirty="0">
                <a:latin typeface="Times New Roman" panose="02020603050405020304" pitchFamily="18" charset="0"/>
                <a:cs typeface="Times New Roman" panose="02020603050405020304" pitchFamily="18" charset="0"/>
              </a:rPr>
              <a:t>Need for intelligent solutions</a:t>
            </a:r>
          </a:p>
        </p:txBody>
      </p:sp>
      <p:pic>
        <p:nvPicPr>
          <p:cNvPr id="4098" name="Picture 2">
            <a:extLst>
              <a:ext uri="{FF2B5EF4-FFF2-40B4-BE49-F238E27FC236}">
                <a16:creationId xmlns:a16="http://schemas.microsoft.com/office/drawing/2014/main" id="{5957CEEF-64D4-F097-E589-101D9A0362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684"/>
          <a:stretch>
            <a:fillRect/>
          </a:stretch>
        </p:blipFill>
        <p:spPr bwMode="auto">
          <a:xfrm>
            <a:off x="5024387" y="4408371"/>
            <a:ext cx="3048000" cy="170367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AIM &amp; OBJECTIVES</a:t>
            </a:r>
          </a:p>
        </p:txBody>
      </p:sp>
      <p:sp>
        <p:nvSpPr>
          <p:cNvPr id="3" name="Content Placeholder 2"/>
          <p:cNvSpPr>
            <a:spLocks noGrp="1"/>
          </p:cNvSpPr>
          <p:nvPr>
            <p:ph idx="1"/>
          </p:nvPr>
        </p:nvSpPr>
        <p:spPr/>
        <p:txBody>
          <a:bodyPr>
            <a:normAutofit/>
          </a:bodyPr>
          <a:lstStyle/>
          <a:p>
            <a:r>
              <a:rPr sz="3200" dirty="0">
                <a:latin typeface="Times New Roman" panose="02020603050405020304" pitchFamily="18" charset="0"/>
                <a:cs typeface="Times New Roman" panose="02020603050405020304" pitchFamily="18" charset="0"/>
              </a:rPr>
              <a:t>Create fraud detection models.</a:t>
            </a:r>
          </a:p>
          <a:p>
            <a:r>
              <a:rPr sz="3200" dirty="0">
                <a:latin typeface="Times New Roman" panose="02020603050405020304" pitchFamily="18" charset="0"/>
                <a:cs typeface="Times New Roman" panose="02020603050405020304" pitchFamily="18" charset="0"/>
              </a:rPr>
              <a:t>Compare multiple ML algorithms</a:t>
            </a:r>
          </a:p>
          <a:p>
            <a:r>
              <a:rPr sz="3200" dirty="0">
                <a:latin typeface="Times New Roman" panose="02020603050405020304" pitchFamily="18" charset="0"/>
                <a:cs typeface="Times New Roman" panose="02020603050405020304" pitchFamily="18" charset="0"/>
              </a:rPr>
              <a:t>Address class imbalance issue.</a:t>
            </a:r>
          </a:p>
          <a:p>
            <a:r>
              <a:rPr sz="3200" dirty="0">
                <a:latin typeface="Times New Roman" panose="02020603050405020304" pitchFamily="18" charset="0"/>
                <a:cs typeface="Times New Roman" panose="02020603050405020304" pitchFamily="18" charset="0"/>
              </a:rPr>
              <a:t>Improve detection accuracy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RESEARCH QUESTIONS</a:t>
            </a:r>
          </a:p>
        </p:txBody>
      </p:sp>
      <p:sp>
        <p:nvSpPr>
          <p:cNvPr id="3" name="Content Placeholder 2"/>
          <p:cNvSpPr>
            <a:spLocks noGrp="1"/>
          </p:cNvSpPr>
          <p:nvPr>
            <p:ph idx="1"/>
          </p:nvPr>
        </p:nvSpPr>
        <p:spPr>
          <a:xfrm>
            <a:off x="864381" y="2489200"/>
            <a:ext cx="7066835" cy="3530600"/>
          </a:xfrm>
        </p:spPr>
        <p:txBody>
          <a:bodyPr>
            <a:normAutofit/>
          </a:bodyPr>
          <a:lstStyle/>
          <a:p>
            <a:r>
              <a:rPr sz="3200" dirty="0">
                <a:latin typeface="Times New Roman" panose="02020603050405020304" pitchFamily="18" charset="0"/>
                <a:cs typeface="Times New Roman" panose="02020603050405020304" pitchFamily="18" charset="0"/>
              </a:rPr>
              <a:t>Effectiveness of ML in fraud detection</a:t>
            </a:r>
          </a:p>
          <a:p>
            <a:r>
              <a:rPr sz="3200" dirty="0">
                <a:latin typeface="Times New Roman" panose="02020603050405020304" pitchFamily="18" charset="0"/>
                <a:cs typeface="Times New Roman" panose="02020603050405020304" pitchFamily="18" charset="0"/>
              </a:rPr>
              <a:t>Effects of transaction characteristics.</a:t>
            </a:r>
          </a:p>
          <a:p>
            <a:r>
              <a:rPr sz="3200" dirty="0">
                <a:latin typeface="Times New Roman" panose="02020603050405020304" pitchFamily="18" charset="0"/>
                <a:cs typeface="Times New Roman" panose="02020603050405020304" pitchFamily="18" charset="0"/>
              </a:rPr>
              <a:t>Best performing algorithm</a:t>
            </a:r>
          </a:p>
          <a:p>
            <a:r>
              <a:rPr sz="3200" dirty="0">
                <a:latin typeface="Times New Roman" panose="02020603050405020304" pitchFamily="18" charset="0"/>
                <a:cs typeface="Times New Roman" panose="02020603050405020304" pitchFamily="18" charset="0"/>
              </a:rPr>
              <a:t>Suitable evaluation metrics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ML vs traditional approaches.</a:t>
            </a:r>
          </a:p>
          <a:p>
            <a:r>
              <a:rPr sz="2400" dirty="0">
                <a:latin typeface="Times New Roman" panose="02020603050405020304" pitchFamily="18" charset="0"/>
                <a:cs typeface="Times New Roman" panose="02020603050405020304" pitchFamily="18" charset="0"/>
              </a:rPr>
              <a:t>Significance of ensemble models.</a:t>
            </a:r>
          </a:p>
          <a:p>
            <a:r>
              <a:rPr sz="2400" dirty="0">
                <a:latin typeface="Times New Roman" panose="02020603050405020304" pitchFamily="18" charset="0"/>
                <a:cs typeface="Times New Roman" panose="02020603050405020304" pitchFamily="18" charset="0"/>
              </a:rPr>
              <a:t>Class imbalance challenge</a:t>
            </a:r>
          </a:p>
          <a:p>
            <a:r>
              <a:rPr sz="2400" dirty="0">
                <a:latin typeface="Times New Roman" panose="02020603050405020304" pitchFamily="18" charset="0"/>
                <a:cs typeface="Times New Roman" panose="02020603050405020304" pitchFamily="18" charset="0"/>
              </a:rPr>
              <a:t>Evaluation beyond accuracy</a:t>
            </a:r>
          </a:p>
        </p:txBody>
      </p:sp>
      <p:pic>
        <p:nvPicPr>
          <p:cNvPr id="5" name="image1.png">
            <a:extLst>
              <a:ext uri="{FF2B5EF4-FFF2-40B4-BE49-F238E27FC236}">
                <a16:creationId xmlns:a16="http://schemas.microsoft.com/office/drawing/2014/main" id="{B9CC994D-00E2-23B0-1FF0-FBB8EFBA9DA3}"/>
              </a:ext>
            </a:extLst>
          </p:cNvPr>
          <p:cNvPicPr/>
          <p:nvPr/>
        </p:nvPicPr>
        <p:blipFill>
          <a:blip r:embed="rId3"/>
          <a:srcRect/>
          <a:stretch>
            <a:fillRect/>
          </a:stretch>
        </p:blipFill>
        <p:spPr>
          <a:xfrm>
            <a:off x="4572000" y="4023360"/>
            <a:ext cx="3936733" cy="243564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Quantitative experimental design</a:t>
            </a:r>
          </a:p>
          <a:p>
            <a:r>
              <a:rPr sz="2400" dirty="0">
                <a:latin typeface="Times New Roman" panose="02020603050405020304" pitchFamily="18" charset="0"/>
                <a:cs typeface="Times New Roman" panose="02020603050405020304" pitchFamily="18" charset="0"/>
              </a:rPr>
              <a:t>Use of Kaggle dataset</a:t>
            </a:r>
          </a:p>
          <a:p>
            <a:r>
              <a:rPr sz="2400" dirty="0">
                <a:latin typeface="Times New Roman" panose="02020603050405020304" pitchFamily="18" charset="0"/>
                <a:cs typeface="Times New Roman" panose="02020603050405020304" pitchFamily="18" charset="0"/>
              </a:rPr>
              <a:t>Data preprocessing techniques</a:t>
            </a:r>
          </a:p>
          <a:p>
            <a:r>
              <a:rPr sz="2400" dirty="0">
                <a:latin typeface="Times New Roman" panose="02020603050405020304" pitchFamily="18" charset="0"/>
                <a:cs typeface="Times New Roman" panose="02020603050405020304" pitchFamily="18" charset="0"/>
              </a:rPr>
              <a:t>Model training and testing.</a:t>
            </a:r>
          </a:p>
        </p:txBody>
      </p:sp>
      <p:pic>
        <p:nvPicPr>
          <p:cNvPr id="4" name="image9.png">
            <a:extLst>
              <a:ext uri="{FF2B5EF4-FFF2-40B4-BE49-F238E27FC236}">
                <a16:creationId xmlns:a16="http://schemas.microsoft.com/office/drawing/2014/main" id="{9D464CDC-24DA-9755-53B4-B5ECA405635E}"/>
              </a:ext>
            </a:extLst>
          </p:cNvPr>
          <p:cNvPicPr/>
          <p:nvPr/>
        </p:nvPicPr>
        <p:blipFill>
          <a:blip r:embed="rId3"/>
          <a:srcRect/>
          <a:stretch>
            <a:fillRect/>
          </a:stretch>
        </p:blipFill>
        <p:spPr>
          <a:xfrm>
            <a:off x="1715703" y="4561105"/>
            <a:ext cx="5943600" cy="17399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DATA PREPROCESSING</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Feature scaling applied</a:t>
            </a:r>
          </a:p>
          <a:p>
            <a:r>
              <a:rPr sz="2400" dirty="0">
                <a:latin typeface="Times New Roman" panose="02020603050405020304" pitchFamily="18" charset="0"/>
                <a:cs typeface="Times New Roman" panose="02020603050405020304" pitchFamily="18" charset="0"/>
              </a:rPr>
              <a:t>No missing data.</a:t>
            </a:r>
          </a:p>
          <a:p>
            <a:r>
              <a:rPr sz="2400" dirty="0">
                <a:latin typeface="Times New Roman" panose="02020603050405020304" pitchFamily="18" charset="0"/>
                <a:cs typeface="Times New Roman" panose="02020603050405020304" pitchFamily="18" charset="0"/>
              </a:rPr>
              <a:t>Train-test split (80:20)</a:t>
            </a:r>
          </a:p>
          <a:p>
            <a:r>
              <a:rPr sz="2400" dirty="0">
                <a:latin typeface="Times New Roman" panose="02020603050405020304" pitchFamily="18" charset="0"/>
                <a:cs typeface="Times New Roman" panose="02020603050405020304" pitchFamily="18" charset="0"/>
              </a:rPr>
              <a:t>Data transformation performed</a:t>
            </a:r>
          </a:p>
        </p:txBody>
      </p:sp>
      <p:pic>
        <p:nvPicPr>
          <p:cNvPr id="4" name="image13.png">
            <a:extLst>
              <a:ext uri="{FF2B5EF4-FFF2-40B4-BE49-F238E27FC236}">
                <a16:creationId xmlns:a16="http://schemas.microsoft.com/office/drawing/2014/main" id="{657CCE58-EB2A-4C00-DA1A-EFAFB3DD31ED}"/>
              </a:ext>
            </a:extLst>
          </p:cNvPr>
          <p:cNvPicPr/>
          <p:nvPr/>
        </p:nvPicPr>
        <p:blipFill>
          <a:blip r:embed="rId3"/>
          <a:srcRect/>
          <a:stretch>
            <a:fillRect/>
          </a:stretch>
        </p:blipFill>
        <p:spPr>
          <a:xfrm>
            <a:off x="5304926" y="3153025"/>
            <a:ext cx="3215324" cy="2977515"/>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HANDLING CLASS IMBALANCE</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There are very few fraud cases.</a:t>
            </a:r>
          </a:p>
          <a:p>
            <a:r>
              <a:rPr sz="2400" dirty="0">
                <a:latin typeface="Times New Roman" panose="02020603050405020304" pitchFamily="18" charset="0"/>
                <a:cs typeface="Times New Roman" panose="02020603050405020304" pitchFamily="18" charset="0"/>
              </a:rPr>
              <a:t>SMOTE technique applied</a:t>
            </a:r>
          </a:p>
          <a:p>
            <a:r>
              <a:rPr sz="2400" dirty="0">
                <a:latin typeface="Times New Roman" panose="02020603050405020304" pitchFamily="18" charset="0"/>
                <a:cs typeface="Times New Roman" panose="02020603050405020304" pitchFamily="18" charset="0"/>
              </a:rPr>
              <a:t>Balanced training dataset</a:t>
            </a:r>
          </a:p>
          <a:p>
            <a:r>
              <a:rPr sz="2400" dirty="0">
                <a:latin typeface="Times New Roman" panose="02020603050405020304" pitchFamily="18" charset="0"/>
                <a:cs typeface="Times New Roman" panose="02020603050405020304" pitchFamily="18" charset="0"/>
              </a:rPr>
              <a:t>Improved model learning</a:t>
            </a:r>
          </a:p>
        </p:txBody>
      </p:sp>
      <p:pic>
        <p:nvPicPr>
          <p:cNvPr id="4" name="image5.png">
            <a:extLst>
              <a:ext uri="{FF2B5EF4-FFF2-40B4-BE49-F238E27FC236}">
                <a16:creationId xmlns:a16="http://schemas.microsoft.com/office/drawing/2014/main" id="{A7A211DA-64CC-A177-78C9-990813BB0C52}"/>
              </a:ext>
            </a:extLst>
          </p:cNvPr>
          <p:cNvPicPr/>
          <p:nvPr/>
        </p:nvPicPr>
        <p:blipFill>
          <a:blip r:embed="rId3"/>
          <a:srcRect/>
          <a:stretch>
            <a:fillRect/>
          </a:stretch>
        </p:blipFill>
        <p:spPr>
          <a:xfrm>
            <a:off x="1600200" y="4559634"/>
            <a:ext cx="5943600" cy="20701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MODELS USED</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Logistic Regression (baseline)</a:t>
            </a:r>
          </a:p>
          <a:p>
            <a:r>
              <a:rPr sz="2400" dirty="0">
                <a:latin typeface="Times New Roman" panose="02020603050405020304" pitchFamily="18" charset="0"/>
                <a:cs typeface="Times New Roman" panose="02020603050405020304" pitchFamily="18" charset="0"/>
              </a:rPr>
              <a:t>Random Forest (ensemble model)</a:t>
            </a:r>
          </a:p>
          <a:p>
            <a:r>
              <a:rPr sz="2400" dirty="0" err="1">
                <a:latin typeface="Times New Roman" panose="02020603050405020304" pitchFamily="18" charset="0"/>
                <a:cs typeface="Times New Roman" panose="02020603050405020304" pitchFamily="18" charset="0"/>
              </a:rPr>
              <a:t>XGBoost</a:t>
            </a:r>
            <a:r>
              <a:rPr sz="2400" dirty="0">
                <a:latin typeface="Times New Roman" panose="02020603050405020304" pitchFamily="18" charset="0"/>
                <a:cs typeface="Times New Roman" panose="02020603050405020304" pitchFamily="18" charset="0"/>
              </a:rPr>
              <a:t> (boosting model)</a:t>
            </a:r>
          </a:p>
          <a:p>
            <a:r>
              <a:rPr sz="2400" dirty="0">
                <a:latin typeface="Times New Roman" panose="02020603050405020304" pitchFamily="18" charset="0"/>
                <a:cs typeface="Times New Roman" panose="02020603050405020304" pitchFamily="18" charset="0"/>
              </a:rPr>
              <a:t>Comparative analysis</a:t>
            </a:r>
          </a:p>
        </p:txBody>
      </p:sp>
      <p:pic>
        <p:nvPicPr>
          <p:cNvPr id="5" name="image7.png">
            <a:extLst>
              <a:ext uri="{FF2B5EF4-FFF2-40B4-BE49-F238E27FC236}">
                <a16:creationId xmlns:a16="http://schemas.microsoft.com/office/drawing/2014/main" id="{45C4C479-5393-AAB0-F6B6-DF9A12B71A91}"/>
              </a:ext>
            </a:extLst>
          </p:cNvPr>
          <p:cNvPicPr/>
          <p:nvPr/>
        </p:nvPicPr>
        <p:blipFill>
          <a:blip r:embed="rId3"/>
          <a:srcRect/>
          <a:stretch>
            <a:fillRect/>
          </a:stretch>
        </p:blipFill>
        <p:spPr>
          <a:xfrm>
            <a:off x="2491222" y="4574240"/>
            <a:ext cx="5112736" cy="204089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RESULTS &amp; FINDINGS</a:t>
            </a:r>
          </a:p>
        </p:txBody>
      </p:sp>
      <p:sp>
        <p:nvSpPr>
          <p:cNvPr id="3" name="Content Placeholder 2"/>
          <p:cNvSpPr>
            <a:spLocks noGrp="1"/>
          </p:cNvSpPr>
          <p:nvPr>
            <p:ph idx="1"/>
          </p:nvPr>
        </p:nvSpPr>
        <p:spPr/>
        <p:txBody>
          <a:bodyPr>
            <a:normAutofit/>
          </a:bodyPr>
          <a:lstStyle/>
          <a:p>
            <a:r>
              <a:rPr sz="2400" dirty="0">
                <a:latin typeface="Times New Roman" panose="02020603050405020304" pitchFamily="18" charset="0"/>
                <a:cs typeface="Times New Roman" panose="02020603050405020304" pitchFamily="18" charset="0"/>
              </a:rPr>
              <a:t>Logistic Regression: low precision, high recall.</a:t>
            </a:r>
          </a:p>
          <a:p>
            <a:r>
              <a:rPr sz="2400" dirty="0">
                <a:latin typeface="Times New Roman" panose="02020603050405020304" pitchFamily="18" charset="0"/>
                <a:cs typeface="Times New Roman" panose="02020603050405020304" pitchFamily="18" charset="0"/>
              </a:rPr>
              <a:t>Random Forest: average performance.</a:t>
            </a:r>
          </a:p>
          <a:p>
            <a:r>
              <a:rPr sz="2400" dirty="0" err="1">
                <a:latin typeface="Times New Roman" panose="02020603050405020304" pitchFamily="18" charset="0"/>
                <a:cs typeface="Times New Roman" panose="02020603050405020304" pitchFamily="18" charset="0"/>
              </a:rPr>
              <a:t>XGBoost</a:t>
            </a:r>
            <a:r>
              <a:rPr sz="2400" dirty="0">
                <a:latin typeface="Times New Roman" panose="02020603050405020304" pitchFamily="18" charset="0"/>
                <a:cs typeface="Times New Roman" panose="02020603050405020304" pitchFamily="18" charset="0"/>
              </a:rPr>
              <a:t>: most suitable model.</a:t>
            </a:r>
          </a:p>
          <a:p>
            <a:r>
              <a:rPr sz="2400" dirty="0">
                <a:latin typeface="Times New Roman" panose="02020603050405020304" pitchFamily="18" charset="0"/>
                <a:cs typeface="Times New Roman" panose="02020603050405020304" pitchFamily="18" charset="0"/>
              </a:rPr>
              <a:t>PR-AUC </a:t>
            </a:r>
            <a:r>
              <a:rPr lang="en-US" sz="2400" dirty="0">
                <a:latin typeface="Times New Roman" panose="02020603050405020304" pitchFamily="18" charset="0"/>
                <a:cs typeface="Times New Roman" panose="02020603050405020304" pitchFamily="18" charset="0"/>
              </a:rPr>
              <a:t>is </a:t>
            </a:r>
            <a:r>
              <a:rPr sz="2400" dirty="0">
                <a:latin typeface="Times New Roman" panose="02020603050405020304" pitchFamily="18" charset="0"/>
                <a:cs typeface="Times New Roman" panose="02020603050405020304" pitchFamily="18" charset="0"/>
              </a:rPr>
              <a:t>the most reliable measure.</a:t>
            </a:r>
          </a:p>
        </p:txBody>
      </p:sp>
      <p:pic>
        <p:nvPicPr>
          <p:cNvPr id="4" name="image2.png">
            <a:extLst>
              <a:ext uri="{FF2B5EF4-FFF2-40B4-BE49-F238E27FC236}">
                <a16:creationId xmlns:a16="http://schemas.microsoft.com/office/drawing/2014/main" id="{AC39CD52-361E-CBCB-A338-7710D4075607}"/>
              </a:ext>
            </a:extLst>
          </p:cNvPr>
          <p:cNvPicPr/>
          <p:nvPr/>
        </p:nvPicPr>
        <p:blipFill>
          <a:blip r:embed="rId3"/>
          <a:srcRect/>
          <a:stretch>
            <a:fillRect/>
          </a:stretch>
        </p:blipFill>
        <p:spPr>
          <a:xfrm>
            <a:off x="2915936" y="4514248"/>
            <a:ext cx="3985895" cy="1974182"/>
          </a:xfrm>
          <a:prstGeom prst="rect">
            <a:avLst/>
          </a:prstGeo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864382" y="2489200"/>
            <a:ext cx="7413344" cy="3530600"/>
          </a:xfrm>
        </p:spPr>
        <p:txBody>
          <a:bodyPr>
            <a:normAutofit/>
          </a:bodyPr>
          <a:lstStyle/>
          <a:p>
            <a:r>
              <a:rPr sz="2400" dirty="0">
                <a:latin typeface="Times New Roman" panose="02020603050405020304" pitchFamily="18" charset="0"/>
                <a:cs typeface="Times New Roman" panose="02020603050405020304" pitchFamily="18" charset="0"/>
              </a:rPr>
              <a:t>ML enhances the detection of fraud.</a:t>
            </a:r>
          </a:p>
          <a:p>
            <a:r>
              <a:rPr sz="2400" dirty="0">
                <a:latin typeface="Times New Roman" panose="02020603050405020304" pitchFamily="18" charset="0"/>
                <a:cs typeface="Times New Roman" panose="02020603050405020304" pitchFamily="18" charset="0"/>
              </a:rPr>
              <a:t>Handling of class imbalance is important.</a:t>
            </a:r>
          </a:p>
          <a:p>
            <a:r>
              <a:rPr sz="2400" dirty="0" err="1">
                <a:latin typeface="Times New Roman" panose="02020603050405020304" pitchFamily="18" charset="0"/>
                <a:cs typeface="Times New Roman" panose="02020603050405020304" pitchFamily="18" charset="0"/>
              </a:rPr>
              <a:t>XGBoost</a:t>
            </a:r>
            <a:r>
              <a:rPr sz="2400" dirty="0">
                <a:latin typeface="Times New Roman" panose="02020603050405020304" pitchFamily="18" charset="0"/>
                <a:cs typeface="Times New Roman" panose="02020603050405020304" pitchFamily="18" charset="0"/>
              </a:rPr>
              <a:t> performs best</a:t>
            </a:r>
          </a:p>
          <a:p>
            <a:r>
              <a:rPr sz="2400" dirty="0">
                <a:latin typeface="Times New Roman" panose="02020603050405020304" pitchFamily="18" charset="0"/>
                <a:cs typeface="Times New Roman" panose="02020603050405020304" pitchFamily="18" charset="0"/>
              </a:rPr>
              <a:t>Future improvement possibilities.</a:t>
            </a:r>
          </a:p>
        </p:txBody>
      </p:sp>
      <p:pic>
        <p:nvPicPr>
          <p:cNvPr id="2050" name="Picture 2">
            <a:extLst>
              <a:ext uri="{FF2B5EF4-FFF2-40B4-BE49-F238E27FC236}">
                <a16:creationId xmlns:a16="http://schemas.microsoft.com/office/drawing/2014/main" id="{54C045C6-7EFC-46D1-895D-6CF70EAACC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52" t="27310" r="12526" b="4047"/>
          <a:stretch>
            <a:fillRect/>
          </a:stretch>
        </p:blipFill>
        <p:spPr bwMode="auto">
          <a:xfrm>
            <a:off x="4888687" y="4485507"/>
            <a:ext cx="3580598" cy="207892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864381" y="2489200"/>
            <a:ext cx="7403719" cy="3530600"/>
          </a:xfrm>
        </p:spPr>
        <p:txBody>
          <a:bodyPr>
            <a:noAutofit/>
          </a:bodyPr>
          <a:lstStyle/>
          <a:p>
            <a:pPr lvl="0"/>
            <a:r>
              <a:rPr lang="en-IN" dirty="0" err="1">
                <a:latin typeface="Times New Roman" panose="02020603050405020304" pitchFamily="18" charset="0"/>
                <a:cs typeface="Times New Roman" panose="02020603050405020304" pitchFamily="18" charset="0"/>
              </a:rPr>
              <a:t>Btoush</a:t>
            </a:r>
            <a:r>
              <a:rPr lang="en-IN" dirty="0">
                <a:latin typeface="Times New Roman" panose="02020603050405020304" pitchFamily="18" charset="0"/>
                <a:cs typeface="Times New Roman" panose="02020603050405020304" pitchFamily="18" charset="0"/>
              </a:rPr>
              <a:t>, E.A.L.M., Zhou, X., Gururajan, R., Chan, K.C., Genrich, R. and Sankaran, P., 2023. A systematic review of literature on credit card cyber fraud detection using machine and deep learning. </a:t>
            </a:r>
            <a:r>
              <a:rPr lang="en-IN" i="1" dirty="0" err="1">
                <a:latin typeface="Times New Roman" panose="02020603050405020304" pitchFamily="18" charset="0"/>
                <a:cs typeface="Times New Roman" panose="02020603050405020304" pitchFamily="18" charset="0"/>
              </a:rPr>
              <a:t>PeerJ</a:t>
            </a:r>
            <a:r>
              <a:rPr lang="en-IN" i="1" dirty="0">
                <a:latin typeface="Times New Roman" panose="02020603050405020304" pitchFamily="18" charset="0"/>
                <a:cs typeface="Times New Roman" panose="02020603050405020304" pitchFamily="18" charset="0"/>
              </a:rPr>
              <a:t> Computer Science</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9</a:t>
            </a:r>
            <a:r>
              <a:rPr lang="en-IN" dirty="0">
                <a:latin typeface="Times New Roman" panose="02020603050405020304" pitchFamily="18" charset="0"/>
                <a:cs typeface="Times New Roman" panose="02020603050405020304" pitchFamily="18" charset="0"/>
              </a:rPr>
              <a:t>, p.e1278.</a:t>
            </a:r>
          </a:p>
          <a:p>
            <a:pPr lvl="0"/>
            <a:r>
              <a:rPr lang="en-IN" dirty="0">
                <a:latin typeface="Times New Roman" panose="02020603050405020304" pitchFamily="18" charset="0"/>
                <a:cs typeface="Times New Roman" panose="02020603050405020304" pitchFamily="18" charset="0"/>
              </a:rPr>
              <a:t>Chhabra, R., Goswami, S. and Ranjan, R.K., 2024. A voting ensemble machine learning based credit card fraud detection using highly imbalance data. </a:t>
            </a:r>
            <a:r>
              <a:rPr lang="en-IN" i="1" dirty="0">
                <a:latin typeface="Times New Roman" panose="02020603050405020304" pitchFamily="18" charset="0"/>
                <a:cs typeface="Times New Roman" panose="02020603050405020304" pitchFamily="18" charset="0"/>
              </a:rPr>
              <a:t>Multimedia Tools and Applications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83</a:t>
            </a:r>
            <a:r>
              <a:rPr lang="en-IN" dirty="0">
                <a:latin typeface="Times New Roman" panose="02020603050405020304" pitchFamily="18" charset="0"/>
                <a:cs typeface="Times New Roman" panose="02020603050405020304" pitchFamily="18" charset="0"/>
              </a:rPr>
              <a:t>(18), pp.54729-54753.</a:t>
            </a:r>
          </a:p>
          <a:p>
            <a:pPr lvl="0"/>
            <a:r>
              <a:rPr lang="en-IN" dirty="0">
                <a:latin typeface="Times New Roman" panose="02020603050405020304" pitchFamily="18" charset="0"/>
                <a:cs typeface="Times New Roman" panose="02020603050405020304" pitchFamily="18" charset="0"/>
              </a:rPr>
              <a:t>Dunleavy, P. and Margetts, H., 2025. Data science, artificial intelligence and the third wave of digital era governance. </a:t>
            </a:r>
            <a:r>
              <a:rPr lang="en-IN" i="1" dirty="0">
                <a:latin typeface="Times New Roman" panose="02020603050405020304" pitchFamily="18" charset="0"/>
                <a:cs typeface="Times New Roman" panose="02020603050405020304" pitchFamily="18" charset="0"/>
              </a:rPr>
              <a:t>Public Policy and Administration</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40</a:t>
            </a:r>
            <a:r>
              <a:rPr lang="en-IN" dirty="0">
                <a:latin typeface="Times New Roman" panose="02020603050405020304" pitchFamily="18" charset="0"/>
                <a:cs typeface="Times New Roman" panose="02020603050405020304" pitchFamily="18" charset="0"/>
              </a:rPr>
              <a:t>(2), pp.185-214.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3ABE7-E3BA-9DEC-83C9-2C3E1F693387}"/>
              </a:ext>
            </a:extLst>
          </p:cNvPr>
          <p:cNvSpPr>
            <a:spLocks noGrp="1"/>
          </p:cNvSpPr>
          <p:nvPr>
            <p:ph type="title"/>
          </p:nvPr>
        </p:nvSpPr>
        <p:spPr/>
        <p:txBody>
          <a:bodyPr/>
          <a:lstStyle/>
          <a:p>
            <a:pPr algn="ctr"/>
            <a:r>
              <a:rPr lang="en-US" sz="3600" b="1" dirty="0">
                <a:latin typeface="Times New Roman" panose="02020603050405020304" pitchFamily="18" charset="0"/>
                <a:cs typeface="Times New Roman" panose="02020603050405020304" pitchFamily="18" charset="0"/>
              </a:rPr>
              <a:t>THANK YOU !!</a:t>
            </a:r>
            <a:endParaRPr lang="en-IN"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23389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24</TotalTime>
  <Words>1320</Words>
  <PresentationFormat>On-screen Show (4:3)</PresentationFormat>
  <Paragraphs>71</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Century Gothic</vt:lpstr>
      <vt:lpstr>Times New Roman</vt:lpstr>
      <vt:lpstr>Wingdings 3</vt:lpstr>
      <vt:lpstr>Ion Boardroom</vt:lpstr>
      <vt:lpstr>CREDIT CARD FRAUD DETECTION USING MACHINE LEARNING</vt:lpstr>
      <vt:lpstr>INTRODUCTION</vt:lpstr>
      <vt:lpstr>AIM &amp; OBJECTIVES</vt:lpstr>
      <vt:lpstr>RESEARCH QUESTIONS</vt:lpstr>
      <vt:lpstr>LITERATURE REVIEW</vt:lpstr>
      <vt:lpstr>METHODOLOGY</vt:lpstr>
      <vt:lpstr>DATA PREPROCESSING</vt:lpstr>
      <vt:lpstr>HANDLING CLASS IMBALANCE</vt:lpstr>
      <vt:lpstr>MODELS USED</vt:lpstr>
      <vt:lpstr>RESULTS &amp; FINDINGS</vt:lpstr>
      <vt:lpstr>CONCLUSION</vt:lpstr>
      <vt:lpstr>REFERENCES</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terms:created xsi:type="dcterms:W3CDTF">2013-01-27T09:14:16Z</dcterms:created>
  <dcterms:modified xsi:type="dcterms:W3CDTF">2026-04-16T09:20:05Z</dcterms:modified>
  <cp:category/>
</cp:coreProperties>
</file>