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23"/>
  </p:notesMasterIdLst>
  <p:sldIdLst>
    <p:sldId id="256" r:id="rId2"/>
    <p:sldId id="257" r:id="rId3"/>
    <p:sldId id="258" r:id="rId4"/>
    <p:sldId id="259" r:id="rId5"/>
    <p:sldId id="260" r:id="rId6"/>
    <p:sldId id="261" r:id="rId7"/>
    <p:sldId id="262" r:id="rId8"/>
    <p:sldId id="263" r:id="rId9"/>
    <p:sldId id="269" r:id="rId10"/>
    <p:sldId id="270" r:id="rId11"/>
    <p:sldId id="271" r:id="rId12"/>
    <p:sldId id="272" r:id="rId13"/>
    <p:sldId id="273" r:id="rId14"/>
    <p:sldId id="274" r:id="rId15"/>
    <p:sldId id="275" r:id="rId16"/>
    <p:sldId id="276" r:id="rId17"/>
    <p:sldId id="277" r:id="rId18"/>
    <p:sldId id="278" r:id="rId19"/>
    <p:sldId id="266" r:id="rId20"/>
    <p:sldId id="267" r:id="rId21"/>
    <p:sldId id="268"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741" autoAdjust="0"/>
  </p:normalViewPr>
  <p:slideViewPr>
    <p:cSldViewPr snapToGrid="0" snapToObjects="1">
      <p:cViewPr varScale="1">
        <p:scale>
          <a:sx n="54" d="100"/>
          <a:sy n="54" d="100"/>
        </p:scale>
        <p:origin x="128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645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presentation, the focus is on detecting credit card fraud with the help of machine learning. Due to the blistering development of online payments, fraud has become a significant issue in terms of money. This paper analyses various machine learning algorithms to identify fraudulent transactions. The project is based on real-world datasets and aims at improving detection accuracy and solving such problems as the imbalance between classes and the evaluation of models.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 card fraud has increased with the increase in online transactions. The conventional fraud detection systems are based on predetermined rules that do not fit the changing trends of fraud. These systems tend to give a lot of false positives and are not flexible. Thus, fraud detection needs to be done more efficiently and precisely in real-time financial settings with intelligent machine learning solutions.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aim of this research is to come up with machine learning models to identify fraudulent transactions. The project is a comparison between Logistic Regression, Random Forest, and XGBoost algorithms. It is also concerned with dealing with the imbalance in classes, which is a significant problem with fraud datasets. The objective is to enhance the quality of detection whilst achieving a balance in precision and recall.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research questions that are answered in this study include the effectiveness of machine learning models in fraud detection. It also examines what features of transactions make the most contribution towards predictions. The other emphasis is on determining the most successful algorithm amongst the models of choice. Also, the paper investigates the most appropriate evaluation metrics when dealing with imbalanced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indicated in the literature review as the shift to machine learning systems as opposed to conventional rule-based systems. Random Forest and XGBoost ensemble models have performed better. One of the challenges found to be a big challenge is the imbalance of classes, of which fraud cases are very scarce. The review also highlights the use of such measures as precision, recall, and PR-AUC rather than focusing solely on accuracy.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present research, the experimental design is quantitative and is based on a real-life dataset obtained at Kaggle. Preprocessing of data involves scaling and cleaning of features. Stratified sampling is used to divide the dataset into training and testing sets. The performance metrics used to train and evaluate machine learning models are designed to guarantee reliable and unbiased outcomes.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Preprocessing of data plays a very crucial role in this project. The feature scaling is used to bring values to the normal level to enhance the performance of the model. There are no missing values in the dataset, making preprocessing easier. A train-test split of 80:20 is applied with stratification to keep the classes balanced. The transformation of data makes sure that features are valuable when training a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imbalance of classes is a crucial problem in fraud detection, as fraud is very infrequent. To counter this, the SMOTE algorithm is utilised to come up with artificial samples of the minority group. This equalises the dataset and aids models in learning fraud patterns more effectively. Caution is taken, though, to apply SMOTE only to training data to prevent leakage of data.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One of the key challenges in detecting fraud is class imbalance since fraudulent transactions form such a small fraction of the data. Machine learning models are biased towards the majority class, which results in biased predictions. This gives high precision and low fraud detection capabilities. Losses incurred due to failure to detect fraudulent activity can run into millions of dollars, so the imbalance in the dataset must be adequately addressed.</a:t>
            </a:r>
          </a:p>
          <a:p>
            <a:endParaRPr lang="en-IN" dirty="0"/>
          </a:p>
        </p:txBody>
      </p:sp>
    </p:spTree>
    <p:extLst>
      <p:ext uri="{BB962C8B-B14F-4D97-AF65-F5344CB8AC3E}">
        <p14:creationId xmlns:p14="http://schemas.microsoft.com/office/powerpoint/2010/main" val="3661877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unbalanced datasets, accuracy is also deceptive as it fails to represent the capacity of the model to identify fraud. Even a model that predicts that all transactions are non-fraud can be very accurate. It, however, does nothing in detecting fraudulent cases. Because it is expensive to detect fraud, it is not appropriate to base it on accuracy. More significant measures are required in order to be properly evaluated.</a:t>
            </a:r>
          </a:p>
          <a:p>
            <a:endParaRPr lang="en-IN" dirty="0"/>
          </a:p>
        </p:txBody>
      </p:sp>
    </p:spTree>
    <p:extLst>
      <p:ext uri="{BB962C8B-B14F-4D97-AF65-F5344CB8AC3E}">
        <p14:creationId xmlns:p14="http://schemas.microsoft.com/office/powerpoint/2010/main" val="3060709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PR-AUC is used in fraud detection since it is a measure of the effectiveness of the model on the minority. It takes precision and recall into consideration, making sure to balance between fraud detection and false positives. Compared to accuracy or ROC-AUC, PR-AUC offers a more realistic performance measurement of imbalanced datasets, hence it is more appropriate in this study.</a:t>
            </a:r>
          </a:p>
          <a:p>
            <a:endParaRPr lang="en-IN" dirty="0"/>
          </a:p>
        </p:txBody>
      </p:sp>
    </p:spTree>
    <p:extLst>
      <p:ext uri="{BB962C8B-B14F-4D97-AF65-F5344CB8AC3E}">
        <p14:creationId xmlns:p14="http://schemas.microsoft.com/office/powerpoint/2010/main" val="440798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This table is a comparison of the three models. Logistic Regression has a good recall but poor precision, resulting in false positives. Random Forest offers middle-ground performance and is trustworthy. </a:t>
            </a:r>
            <a:r>
              <a:rPr lang="en-IN" sz="1200" kern="1200" dirty="0" err="1">
                <a:solidFill>
                  <a:schemeClr val="tx1"/>
                </a:solidFill>
                <a:effectLst/>
                <a:latin typeface="+mn-lt"/>
                <a:ea typeface="+mn-ea"/>
                <a:cs typeface="+mn-cs"/>
              </a:rPr>
              <a:t>XGBoost</a:t>
            </a:r>
            <a:r>
              <a:rPr lang="en-IN" sz="1200" kern="1200" dirty="0">
                <a:solidFill>
                  <a:schemeClr val="tx1"/>
                </a:solidFill>
                <a:effectLst/>
                <a:latin typeface="+mn-lt"/>
                <a:ea typeface="+mn-ea"/>
                <a:cs typeface="+mn-cs"/>
              </a:rPr>
              <a:t> is highly predictive and recalls well. The best measure in this case is PR-AUC since it can analyse performance on skewed data.</a:t>
            </a:r>
          </a:p>
          <a:p>
            <a:endParaRPr lang="en-IN" dirty="0"/>
          </a:p>
        </p:txBody>
      </p:sp>
    </p:spTree>
    <p:extLst>
      <p:ext uri="{BB962C8B-B14F-4D97-AF65-F5344CB8AC3E}">
        <p14:creationId xmlns:p14="http://schemas.microsoft.com/office/powerpoint/2010/main" val="1965590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precision-recall curve is a graph in which the precision is varied with recall. Random Forest performs consistently well over thresholds. </a:t>
            </a:r>
            <a:r>
              <a:rPr lang="en-IN" sz="1200" kern="1200" dirty="0" err="1">
                <a:solidFill>
                  <a:schemeClr val="tx1"/>
                </a:solidFill>
                <a:effectLst/>
                <a:latin typeface="+mn-lt"/>
                <a:ea typeface="+mn-ea"/>
                <a:cs typeface="+mn-cs"/>
              </a:rPr>
              <a:t>XGBoost</a:t>
            </a:r>
            <a:r>
              <a:rPr lang="en-IN" sz="1200" kern="1200" dirty="0">
                <a:solidFill>
                  <a:schemeClr val="tx1"/>
                </a:solidFill>
                <a:effectLst/>
                <a:latin typeface="+mn-lt"/>
                <a:ea typeface="+mn-ea"/>
                <a:cs typeface="+mn-cs"/>
              </a:rPr>
              <a:t> is good, but with variation. Logistic Regression becomes highly inaccurate, and this means that there are numerous false positives. This discussion explains why ensemble models are more effective at fraud detection than linear models.</a:t>
            </a:r>
          </a:p>
          <a:p>
            <a:endParaRPr lang="en-IN" dirty="0"/>
          </a:p>
        </p:txBody>
      </p:sp>
    </p:spTree>
    <p:extLst>
      <p:ext uri="{BB962C8B-B14F-4D97-AF65-F5344CB8AC3E}">
        <p14:creationId xmlns:p14="http://schemas.microsoft.com/office/powerpoint/2010/main" val="3806015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bar chart plots visually the performance of various models. Random Forest depicts a good balance between precision and recall. </a:t>
            </a:r>
            <a:r>
              <a:rPr lang="en-IN" sz="1200" kern="1200" dirty="0" err="1">
                <a:solidFill>
                  <a:schemeClr val="tx1"/>
                </a:solidFill>
                <a:effectLst/>
                <a:latin typeface="+mn-lt"/>
                <a:ea typeface="+mn-ea"/>
                <a:cs typeface="+mn-cs"/>
              </a:rPr>
              <a:t>XGBoost</a:t>
            </a:r>
            <a:r>
              <a:rPr lang="en-IN" sz="1200" kern="1200" dirty="0">
                <a:solidFill>
                  <a:schemeClr val="tx1"/>
                </a:solidFill>
                <a:effectLst/>
                <a:latin typeface="+mn-lt"/>
                <a:ea typeface="+mn-ea"/>
                <a:cs typeface="+mn-cs"/>
              </a:rPr>
              <a:t> has high recall, i.e., it is effective in detecting fraud. Logistic Regression is not very precise. Graphical analysis can eloquently explain the reason why ensemble models are better than simple models in detecting fraud cases.</a:t>
            </a:r>
          </a:p>
          <a:p>
            <a:endParaRPr lang="en-IN" dirty="0"/>
          </a:p>
        </p:txBody>
      </p:sp>
    </p:spTree>
    <p:extLst>
      <p:ext uri="{BB962C8B-B14F-4D97-AF65-F5344CB8AC3E}">
        <p14:creationId xmlns:p14="http://schemas.microsoft.com/office/powerpoint/2010/main" val="5312029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All models are limited. Logistic Regression is unable to capture complex patterns because it is linear. Random Forest enhances performance and decreases interpretability. </a:t>
            </a:r>
            <a:r>
              <a:rPr lang="en-IN" sz="1200" kern="1200" dirty="0" err="1">
                <a:solidFill>
                  <a:schemeClr val="tx1"/>
                </a:solidFill>
                <a:effectLst/>
                <a:latin typeface="+mn-lt"/>
                <a:ea typeface="+mn-ea"/>
                <a:cs typeface="+mn-cs"/>
              </a:rPr>
              <a:t>XGBoost</a:t>
            </a:r>
            <a:r>
              <a:rPr lang="en-IN" sz="1200" kern="1200" dirty="0">
                <a:solidFill>
                  <a:schemeClr val="tx1"/>
                </a:solidFill>
                <a:effectLst/>
                <a:latin typeface="+mn-lt"/>
                <a:ea typeface="+mn-ea"/>
                <a:cs typeface="+mn-cs"/>
              </a:rPr>
              <a:t> is more accurate but needs more computing resources. Thus, the choice of a model will be based on the trade-offs between accuracy, interpretability and efficiency in the application of the model in the real world.</a:t>
            </a:r>
          </a:p>
          <a:p>
            <a:endParaRPr lang="en-IN" dirty="0"/>
          </a:p>
        </p:txBody>
      </p:sp>
    </p:spTree>
    <p:extLst>
      <p:ext uri="{BB962C8B-B14F-4D97-AF65-F5344CB8AC3E}">
        <p14:creationId xmlns:p14="http://schemas.microsoft.com/office/powerpoint/2010/main" val="3156325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There are many limitations of this study. The data is anonymised, which restricts the knowledge of features. Offline evaluation of the models is done, and therefore, performance in real-time is not known. SMOTE has the potential to cause overfitting through artificial data. Also, the system has not been implemented in practice, which restricts the practical validation of the results.</a:t>
            </a:r>
          </a:p>
          <a:p>
            <a:endParaRPr lang="en-IN" dirty="0"/>
          </a:p>
        </p:txBody>
      </p:sp>
    </p:spTree>
    <p:extLst>
      <p:ext uri="{BB962C8B-B14F-4D97-AF65-F5344CB8AC3E}">
        <p14:creationId xmlns:p14="http://schemas.microsoft.com/office/powerpoint/2010/main" val="498278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future studies, real-time fraud detection systems can be used to study the practical implementation. The deep learning models can enhance the recognition of complex patterns. Transparency can be enhanced with explainable AI methods such as SHAP. More sophisticated imbalance management techniques like ADASYN can be used to further improve model performance.</a:t>
            </a:r>
          </a:p>
          <a:p>
            <a:endParaRPr lang="en-IN" dirty="0"/>
          </a:p>
        </p:txBody>
      </p:sp>
    </p:spTree>
    <p:extLst>
      <p:ext uri="{BB962C8B-B14F-4D97-AF65-F5344CB8AC3E}">
        <p14:creationId xmlns:p14="http://schemas.microsoft.com/office/powerpoint/2010/main" val="3456541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Fraud detection is sensitive to ethical aspects. False positives can be irritating to users by blocking legitimate transactions. Unfair decisions can be made due to model bias. Working with financial data should be safe to guarantee privacy. Financial systems require transparency, which is a prerequisite to trust and regulatory compliance.</a:t>
            </a:r>
          </a:p>
          <a:p>
            <a:endParaRPr lang="en-IN" dirty="0"/>
          </a:p>
        </p:txBody>
      </p:sp>
    </p:spTree>
    <p:extLst>
      <p:ext uri="{BB962C8B-B14F-4D97-AF65-F5344CB8AC3E}">
        <p14:creationId xmlns:p14="http://schemas.microsoft.com/office/powerpoint/2010/main" val="3671272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machine learning is a valuable tool in the detection of credit card fraud. Class imbalance is a critical issue to deal with to make reliable predictions. XGBoost is the most suitable model of all models tested. Nevertheless, it can be further enhanced, including the implementation of deep learning models and real-time systems. Other areas that can be discussed in future studies are to make the models more interpretable.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IN" sz="1200" u="none" strike="noStrike" kern="1200" dirty="0" err="1">
                <a:solidFill>
                  <a:schemeClr val="tx1"/>
                </a:solidFill>
                <a:effectLst/>
                <a:latin typeface="+mn-lt"/>
                <a:ea typeface="+mn-ea"/>
                <a:cs typeface="+mn-cs"/>
              </a:rPr>
              <a:t>Btoush</a:t>
            </a:r>
            <a:r>
              <a:rPr lang="en-IN" sz="1200" u="none" strike="noStrike" kern="1200" dirty="0">
                <a:solidFill>
                  <a:schemeClr val="tx1"/>
                </a:solidFill>
                <a:effectLst/>
                <a:latin typeface="+mn-lt"/>
                <a:ea typeface="+mn-ea"/>
                <a:cs typeface="+mn-cs"/>
              </a:rPr>
              <a:t>, E.A.L.M., Zhou, X., Gururajan, R., Chan, K.C., Genrich, R. and Sankaran, P., 2023. A systematic review of literature on credit card cyber fraud detection using machine and deep learning. </a:t>
            </a:r>
            <a:r>
              <a:rPr lang="en-IN" sz="1200" i="1" u="none" strike="noStrike" kern="1200" dirty="0" err="1">
                <a:solidFill>
                  <a:schemeClr val="tx1"/>
                </a:solidFill>
                <a:effectLst/>
                <a:latin typeface="+mn-lt"/>
                <a:ea typeface="+mn-ea"/>
                <a:cs typeface="+mn-cs"/>
              </a:rPr>
              <a:t>PeerJ</a:t>
            </a:r>
            <a:r>
              <a:rPr lang="en-IN" sz="1200" i="1" u="none" strike="noStrike" kern="1200" dirty="0">
                <a:solidFill>
                  <a:schemeClr val="tx1"/>
                </a:solidFill>
                <a:effectLst/>
                <a:latin typeface="+mn-lt"/>
                <a:ea typeface="+mn-ea"/>
                <a:cs typeface="+mn-cs"/>
              </a:rPr>
              <a:t> Computer Science</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9</a:t>
            </a:r>
            <a:r>
              <a:rPr lang="en-IN" sz="1200" u="none" strike="noStrike" kern="1200" dirty="0">
                <a:solidFill>
                  <a:schemeClr val="tx1"/>
                </a:solidFill>
                <a:effectLst/>
                <a:latin typeface="+mn-lt"/>
                <a:ea typeface="+mn-ea"/>
                <a:cs typeface="+mn-cs"/>
              </a:rPr>
              <a:t>, p.e1278.</a:t>
            </a:r>
          </a:p>
          <a:p>
            <a:pPr lvl="0"/>
            <a:r>
              <a:rPr lang="en-IN" sz="1200" u="none" strike="noStrike" kern="1200" dirty="0">
                <a:solidFill>
                  <a:schemeClr val="tx1"/>
                </a:solidFill>
                <a:effectLst/>
                <a:latin typeface="+mn-lt"/>
                <a:ea typeface="+mn-ea"/>
                <a:cs typeface="+mn-cs"/>
              </a:rPr>
              <a:t>Chhabra, R., Goswami, S. and Ranjan, R.K., 2024. A voting ensemble machine learning based credit card fraud detection using highly imbalance data. </a:t>
            </a:r>
            <a:r>
              <a:rPr lang="en-IN" sz="1200" i="1" u="none" strike="noStrike" kern="1200" dirty="0">
                <a:solidFill>
                  <a:schemeClr val="tx1"/>
                </a:solidFill>
                <a:effectLst/>
                <a:latin typeface="+mn-lt"/>
                <a:ea typeface="+mn-ea"/>
                <a:cs typeface="+mn-cs"/>
              </a:rPr>
              <a:t>Multimedia Tools and Applications</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83</a:t>
            </a:r>
            <a:r>
              <a:rPr lang="en-IN" sz="1200" u="none" strike="noStrike" kern="1200" dirty="0">
                <a:solidFill>
                  <a:schemeClr val="tx1"/>
                </a:solidFill>
                <a:effectLst/>
                <a:latin typeface="+mn-lt"/>
                <a:ea typeface="+mn-ea"/>
                <a:cs typeface="+mn-cs"/>
              </a:rPr>
              <a:t>(18), pp.54729-54753.</a:t>
            </a:r>
          </a:p>
          <a:p>
            <a:pPr lvl="0"/>
            <a:r>
              <a:rPr lang="en-IN" sz="1200" u="none" strike="noStrike" kern="1200" dirty="0">
                <a:solidFill>
                  <a:schemeClr val="tx1"/>
                </a:solidFill>
                <a:effectLst/>
                <a:latin typeface="+mn-lt"/>
                <a:ea typeface="+mn-ea"/>
                <a:cs typeface="+mn-cs"/>
              </a:rPr>
              <a:t>Dunleavy, P. and Margetts, H., 2025. Data science, artificial intelligence and the third wave of digital era governance. </a:t>
            </a:r>
            <a:r>
              <a:rPr lang="en-IN" sz="1200" i="1" u="none" strike="noStrike" kern="1200" dirty="0">
                <a:solidFill>
                  <a:schemeClr val="tx1"/>
                </a:solidFill>
                <a:effectLst/>
                <a:latin typeface="+mn-lt"/>
                <a:ea typeface="+mn-ea"/>
                <a:cs typeface="+mn-cs"/>
              </a:rPr>
              <a:t>Public Policy and Administration</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40</a:t>
            </a:r>
            <a:r>
              <a:rPr lang="en-IN" sz="1200" u="none" strike="noStrike" kern="1200" dirty="0">
                <a:solidFill>
                  <a:schemeClr val="tx1"/>
                </a:solidFill>
                <a:effectLst/>
                <a:latin typeface="+mn-lt"/>
                <a:ea typeface="+mn-ea"/>
                <a:cs typeface="+mn-cs"/>
              </a:rPr>
              <a:t>(2), pp.185-214.</a:t>
            </a:r>
          </a:p>
          <a:p>
            <a:pPr lvl="0"/>
            <a:r>
              <a:rPr lang="en-IN" sz="1200" u="none" strike="noStrike" kern="1200" dirty="0">
                <a:solidFill>
                  <a:schemeClr val="tx1"/>
                </a:solidFill>
                <a:effectLst/>
                <a:latin typeface="+mn-lt"/>
                <a:ea typeface="+mn-ea"/>
                <a:cs typeface="+mn-cs"/>
              </a:rPr>
              <a:t>Faraji, Z., 2022. A Review of Machine Learning Applications for Credit Card Fraud Detection with A Case study. </a:t>
            </a:r>
            <a:r>
              <a:rPr lang="en-IN" sz="1200" i="1" u="none" strike="noStrike" kern="1200" dirty="0">
                <a:solidFill>
                  <a:schemeClr val="tx1"/>
                </a:solidFill>
                <a:effectLst/>
                <a:latin typeface="+mn-lt"/>
                <a:ea typeface="+mn-ea"/>
                <a:cs typeface="+mn-cs"/>
              </a:rPr>
              <a:t>SEISENSE Journal of Management</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5</a:t>
            </a:r>
            <a:r>
              <a:rPr lang="en-IN" sz="1200" u="none" strike="noStrike" kern="1200" dirty="0">
                <a:solidFill>
                  <a:schemeClr val="tx1"/>
                </a:solidFill>
                <a:effectLst/>
                <a:latin typeface="+mn-lt"/>
                <a:ea typeface="+mn-ea"/>
                <a:cs typeface="+mn-cs"/>
              </a:rPr>
              <a:t>(1).</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48534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3373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3149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754241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83817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3846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5656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86195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22845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3563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5856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25312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7680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87886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39283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26465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4299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4/26/2026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4053781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dirty="0">
                <a:latin typeface="Times New Roman" panose="02020603050405020304" pitchFamily="18" charset="0"/>
                <a:cs typeface="Times New Roman" panose="02020603050405020304" pitchFamily="18" charset="0"/>
              </a:rPr>
              <a:t>CREDIT CARD FRAUD DETECTION USING MACHINE LEARNING</a:t>
            </a:r>
          </a:p>
        </p:txBody>
      </p:sp>
      <p:pic>
        <p:nvPicPr>
          <p:cNvPr id="1026" name="Picture 2">
            <a:extLst>
              <a:ext uri="{FF2B5EF4-FFF2-40B4-BE49-F238E27FC236}">
                <a16:creationId xmlns:a16="http://schemas.microsoft.com/office/drawing/2014/main" id="{4C7A6992-33E9-5672-CEE8-A76DECB8D7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499" y="2839453"/>
            <a:ext cx="4649002" cy="2927820"/>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Expansion of online payment systems.</a:t>
            </a:r>
          </a:p>
          <a:p>
            <a:r>
              <a:rPr sz="2400" dirty="0">
                <a:latin typeface="Times New Roman" panose="02020603050405020304" pitchFamily="18" charset="0"/>
                <a:cs typeface="Times New Roman" panose="02020603050405020304" pitchFamily="18" charset="0"/>
              </a:rPr>
              <a:t>Increase in credit card fraud.</a:t>
            </a:r>
          </a:p>
          <a:p>
            <a:r>
              <a:rPr sz="2400" dirty="0">
                <a:latin typeface="Times New Roman" panose="02020603050405020304" pitchFamily="18" charset="0"/>
                <a:cs typeface="Times New Roman" panose="02020603050405020304" pitchFamily="18" charset="0"/>
              </a:rPr>
              <a:t>Weakness of conventional approaches.</a:t>
            </a:r>
          </a:p>
          <a:p>
            <a:r>
              <a:rPr sz="2400" dirty="0">
                <a:latin typeface="Times New Roman" panose="02020603050405020304" pitchFamily="18" charset="0"/>
                <a:cs typeface="Times New Roman" panose="02020603050405020304" pitchFamily="18" charset="0"/>
              </a:rPr>
              <a:t>Need for intelligent solutions</a:t>
            </a:r>
          </a:p>
        </p:txBody>
      </p:sp>
      <p:pic>
        <p:nvPicPr>
          <p:cNvPr id="4098" name="Picture 2">
            <a:extLst>
              <a:ext uri="{FF2B5EF4-FFF2-40B4-BE49-F238E27FC236}">
                <a16:creationId xmlns:a16="http://schemas.microsoft.com/office/drawing/2014/main" id="{5957CEEF-64D4-F097-E589-101D9A0362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684"/>
          <a:stretch>
            <a:fillRect/>
          </a:stretch>
        </p:blipFill>
        <p:spPr bwMode="auto">
          <a:xfrm>
            <a:off x="5024387" y="4408371"/>
            <a:ext cx="3048000" cy="170367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AIM &amp; OBJECTIVES</a:t>
            </a:r>
          </a:p>
        </p:txBody>
      </p:sp>
      <p:sp>
        <p:nvSpPr>
          <p:cNvPr id="3" name="Content Placeholder 2"/>
          <p:cNvSpPr>
            <a:spLocks noGrp="1"/>
          </p:cNvSpPr>
          <p:nvPr>
            <p:ph idx="1"/>
          </p:nvPr>
        </p:nvSpPr>
        <p:spPr/>
        <p:txBody>
          <a:bodyPr>
            <a:normAutofit/>
          </a:bodyPr>
          <a:lstStyle/>
          <a:p>
            <a:r>
              <a:rPr sz="3200" dirty="0">
                <a:latin typeface="Times New Roman" panose="02020603050405020304" pitchFamily="18" charset="0"/>
                <a:cs typeface="Times New Roman" panose="02020603050405020304" pitchFamily="18" charset="0"/>
              </a:rPr>
              <a:t>Create fraud detection models.</a:t>
            </a:r>
          </a:p>
          <a:p>
            <a:r>
              <a:rPr sz="3200" dirty="0">
                <a:latin typeface="Times New Roman" panose="02020603050405020304" pitchFamily="18" charset="0"/>
                <a:cs typeface="Times New Roman" panose="02020603050405020304" pitchFamily="18" charset="0"/>
              </a:rPr>
              <a:t>Compare multiple ML algorithms</a:t>
            </a:r>
          </a:p>
          <a:p>
            <a:r>
              <a:rPr sz="3200" dirty="0">
                <a:latin typeface="Times New Roman" panose="02020603050405020304" pitchFamily="18" charset="0"/>
                <a:cs typeface="Times New Roman" panose="02020603050405020304" pitchFamily="18" charset="0"/>
              </a:rPr>
              <a:t>Address class imbalance issue.</a:t>
            </a:r>
          </a:p>
          <a:p>
            <a:r>
              <a:rPr sz="3200" dirty="0">
                <a:latin typeface="Times New Roman" panose="02020603050405020304" pitchFamily="18" charset="0"/>
                <a:cs typeface="Times New Roman" panose="02020603050405020304" pitchFamily="18" charset="0"/>
              </a:rPr>
              <a:t>Improve detection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RESEARCH QUESTIONS</a:t>
            </a:r>
          </a:p>
        </p:txBody>
      </p:sp>
      <p:sp>
        <p:nvSpPr>
          <p:cNvPr id="3" name="Content Placeholder 2"/>
          <p:cNvSpPr>
            <a:spLocks noGrp="1"/>
          </p:cNvSpPr>
          <p:nvPr>
            <p:ph idx="1"/>
          </p:nvPr>
        </p:nvSpPr>
        <p:spPr>
          <a:xfrm>
            <a:off x="864381" y="2489200"/>
            <a:ext cx="7066835" cy="3530600"/>
          </a:xfrm>
        </p:spPr>
        <p:txBody>
          <a:bodyPr>
            <a:normAutofit/>
          </a:bodyPr>
          <a:lstStyle/>
          <a:p>
            <a:r>
              <a:rPr sz="3200" dirty="0">
                <a:latin typeface="Times New Roman" panose="02020603050405020304" pitchFamily="18" charset="0"/>
                <a:cs typeface="Times New Roman" panose="02020603050405020304" pitchFamily="18" charset="0"/>
              </a:rPr>
              <a:t>Effectiveness of ML in fraud detection</a:t>
            </a:r>
          </a:p>
          <a:p>
            <a:r>
              <a:rPr sz="3200" dirty="0">
                <a:latin typeface="Times New Roman" panose="02020603050405020304" pitchFamily="18" charset="0"/>
                <a:cs typeface="Times New Roman" panose="02020603050405020304" pitchFamily="18" charset="0"/>
              </a:rPr>
              <a:t>Effects of transaction characteristics.</a:t>
            </a:r>
          </a:p>
          <a:p>
            <a:r>
              <a:rPr sz="3200" dirty="0">
                <a:latin typeface="Times New Roman" panose="02020603050405020304" pitchFamily="18" charset="0"/>
                <a:cs typeface="Times New Roman" panose="02020603050405020304" pitchFamily="18" charset="0"/>
              </a:rPr>
              <a:t>Best performing algorithm</a:t>
            </a:r>
          </a:p>
          <a:p>
            <a:r>
              <a:rPr sz="3200" dirty="0">
                <a:latin typeface="Times New Roman" panose="02020603050405020304" pitchFamily="18" charset="0"/>
                <a:cs typeface="Times New Roman" panose="02020603050405020304" pitchFamily="18" charset="0"/>
              </a:rPr>
              <a:t>Suitable evaluation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ML vs traditional approaches.</a:t>
            </a:r>
          </a:p>
          <a:p>
            <a:r>
              <a:rPr sz="2400" dirty="0">
                <a:latin typeface="Times New Roman" panose="02020603050405020304" pitchFamily="18" charset="0"/>
                <a:cs typeface="Times New Roman" panose="02020603050405020304" pitchFamily="18" charset="0"/>
              </a:rPr>
              <a:t>Significance of ensemble models.</a:t>
            </a:r>
          </a:p>
          <a:p>
            <a:r>
              <a:rPr sz="2400" dirty="0">
                <a:latin typeface="Times New Roman" panose="02020603050405020304" pitchFamily="18" charset="0"/>
                <a:cs typeface="Times New Roman" panose="02020603050405020304" pitchFamily="18" charset="0"/>
              </a:rPr>
              <a:t>Class imbalance challenge</a:t>
            </a:r>
          </a:p>
          <a:p>
            <a:r>
              <a:rPr sz="2400" dirty="0">
                <a:latin typeface="Times New Roman" panose="02020603050405020304" pitchFamily="18" charset="0"/>
                <a:cs typeface="Times New Roman" panose="02020603050405020304" pitchFamily="18" charset="0"/>
              </a:rPr>
              <a:t>Evaluation beyond accuracy</a:t>
            </a:r>
          </a:p>
        </p:txBody>
      </p:sp>
      <p:pic>
        <p:nvPicPr>
          <p:cNvPr id="5" name="image1.png">
            <a:extLst>
              <a:ext uri="{FF2B5EF4-FFF2-40B4-BE49-F238E27FC236}">
                <a16:creationId xmlns:a16="http://schemas.microsoft.com/office/drawing/2014/main" id="{B9CC994D-00E2-23B0-1FF0-FBB8EFBA9DA3}"/>
              </a:ext>
            </a:extLst>
          </p:cNvPr>
          <p:cNvPicPr/>
          <p:nvPr/>
        </p:nvPicPr>
        <p:blipFill>
          <a:blip r:embed="rId3"/>
          <a:srcRect/>
          <a:stretch>
            <a:fillRect/>
          </a:stretch>
        </p:blipFill>
        <p:spPr>
          <a:xfrm>
            <a:off x="4572000" y="4023360"/>
            <a:ext cx="3936733" cy="243564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Quantitative experimental design</a:t>
            </a:r>
          </a:p>
          <a:p>
            <a:r>
              <a:rPr sz="2400" dirty="0">
                <a:latin typeface="Times New Roman" panose="02020603050405020304" pitchFamily="18" charset="0"/>
                <a:cs typeface="Times New Roman" panose="02020603050405020304" pitchFamily="18" charset="0"/>
              </a:rPr>
              <a:t>Use of Kaggle dataset</a:t>
            </a:r>
          </a:p>
          <a:p>
            <a:r>
              <a:rPr sz="2400" dirty="0">
                <a:latin typeface="Times New Roman" panose="02020603050405020304" pitchFamily="18" charset="0"/>
                <a:cs typeface="Times New Roman" panose="02020603050405020304" pitchFamily="18" charset="0"/>
              </a:rPr>
              <a:t>Data preprocessing techniques</a:t>
            </a:r>
          </a:p>
          <a:p>
            <a:r>
              <a:rPr sz="2400" dirty="0">
                <a:latin typeface="Times New Roman" panose="02020603050405020304" pitchFamily="18" charset="0"/>
                <a:cs typeface="Times New Roman" panose="02020603050405020304" pitchFamily="18" charset="0"/>
              </a:rPr>
              <a:t>Model training and testing.</a:t>
            </a:r>
          </a:p>
        </p:txBody>
      </p:sp>
      <p:pic>
        <p:nvPicPr>
          <p:cNvPr id="4" name="image9.png">
            <a:extLst>
              <a:ext uri="{FF2B5EF4-FFF2-40B4-BE49-F238E27FC236}">
                <a16:creationId xmlns:a16="http://schemas.microsoft.com/office/drawing/2014/main" id="{9D464CDC-24DA-9755-53B4-B5ECA405635E}"/>
              </a:ext>
            </a:extLst>
          </p:cNvPr>
          <p:cNvPicPr/>
          <p:nvPr/>
        </p:nvPicPr>
        <p:blipFill>
          <a:blip r:embed="rId3"/>
          <a:srcRect/>
          <a:stretch>
            <a:fillRect/>
          </a:stretch>
        </p:blipFill>
        <p:spPr>
          <a:xfrm>
            <a:off x="1715703" y="4561105"/>
            <a:ext cx="5943600" cy="17399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DATA PREPROCESSING</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Feature scaling applied</a:t>
            </a:r>
          </a:p>
          <a:p>
            <a:r>
              <a:rPr sz="2400" dirty="0">
                <a:latin typeface="Times New Roman" panose="02020603050405020304" pitchFamily="18" charset="0"/>
                <a:cs typeface="Times New Roman" panose="02020603050405020304" pitchFamily="18" charset="0"/>
              </a:rPr>
              <a:t>No missing data.</a:t>
            </a:r>
          </a:p>
          <a:p>
            <a:r>
              <a:rPr sz="2400" dirty="0">
                <a:latin typeface="Times New Roman" panose="02020603050405020304" pitchFamily="18" charset="0"/>
                <a:cs typeface="Times New Roman" panose="02020603050405020304" pitchFamily="18" charset="0"/>
              </a:rPr>
              <a:t>Train-test split (80:20)</a:t>
            </a:r>
          </a:p>
          <a:p>
            <a:r>
              <a:rPr sz="2400" dirty="0">
                <a:latin typeface="Times New Roman" panose="02020603050405020304" pitchFamily="18" charset="0"/>
                <a:cs typeface="Times New Roman" panose="02020603050405020304" pitchFamily="18" charset="0"/>
              </a:rPr>
              <a:t>Data transformation performed</a:t>
            </a:r>
          </a:p>
        </p:txBody>
      </p:sp>
      <p:pic>
        <p:nvPicPr>
          <p:cNvPr id="4" name="image13.png">
            <a:extLst>
              <a:ext uri="{FF2B5EF4-FFF2-40B4-BE49-F238E27FC236}">
                <a16:creationId xmlns:a16="http://schemas.microsoft.com/office/drawing/2014/main" id="{657CCE58-EB2A-4C00-DA1A-EFAFB3DD31ED}"/>
              </a:ext>
            </a:extLst>
          </p:cNvPr>
          <p:cNvPicPr/>
          <p:nvPr/>
        </p:nvPicPr>
        <p:blipFill>
          <a:blip r:embed="rId3"/>
          <a:srcRect/>
          <a:stretch>
            <a:fillRect/>
          </a:stretch>
        </p:blipFill>
        <p:spPr>
          <a:xfrm>
            <a:off x="5304926" y="3153025"/>
            <a:ext cx="3215324" cy="2977515"/>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HANDLING CLASS IMBALANCE</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There are very few fraud cases.</a:t>
            </a:r>
          </a:p>
          <a:p>
            <a:r>
              <a:rPr sz="2400" dirty="0">
                <a:latin typeface="Times New Roman" panose="02020603050405020304" pitchFamily="18" charset="0"/>
                <a:cs typeface="Times New Roman" panose="02020603050405020304" pitchFamily="18" charset="0"/>
              </a:rPr>
              <a:t>SMOTE technique applied</a:t>
            </a:r>
          </a:p>
          <a:p>
            <a:r>
              <a:rPr sz="2400" dirty="0">
                <a:latin typeface="Times New Roman" panose="02020603050405020304" pitchFamily="18" charset="0"/>
                <a:cs typeface="Times New Roman" panose="02020603050405020304" pitchFamily="18" charset="0"/>
              </a:rPr>
              <a:t>Balanced training dataset</a:t>
            </a:r>
          </a:p>
          <a:p>
            <a:r>
              <a:rPr sz="2400" dirty="0">
                <a:latin typeface="Times New Roman" panose="02020603050405020304" pitchFamily="18" charset="0"/>
                <a:cs typeface="Times New Roman" panose="02020603050405020304" pitchFamily="18" charset="0"/>
              </a:rPr>
              <a:t>Improved model learning</a:t>
            </a:r>
          </a:p>
        </p:txBody>
      </p:sp>
      <p:pic>
        <p:nvPicPr>
          <p:cNvPr id="4" name="image5.png">
            <a:extLst>
              <a:ext uri="{FF2B5EF4-FFF2-40B4-BE49-F238E27FC236}">
                <a16:creationId xmlns:a16="http://schemas.microsoft.com/office/drawing/2014/main" id="{A7A211DA-64CC-A177-78C9-990813BB0C52}"/>
              </a:ext>
            </a:extLst>
          </p:cNvPr>
          <p:cNvPicPr/>
          <p:nvPr/>
        </p:nvPicPr>
        <p:blipFill>
          <a:blip r:embed="rId3"/>
          <a:srcRect/>
          <a:stretch>
            <a:fillRect/>
          </a:stretch>
        </p:blipFill>
        <p:spPr>
          <a:xfrm>
            <a:off x="1600200" y="4559634"/>
            <a:ext cx="5943600" cy="20701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10F3-4D2A-F4E1-4D93-70EC15B14CC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WHY CLASS IMBALANCE IS A PROBLEM?</a:t>
            </a:r>
          </a:p>
        </p:txBody>
      </p:sp>
      <p:sp>
        <p:nvSpPr>
          <p:cNvPr id="3" name="Content Placeholder 2">
            <a:extLst>
              <a:ext uri="{FF2B5EF4-FFF2-40B4-BE49-F238E27FC236}">
                <a16:creationId xmlns:a16="http://schemas.microsoft.com/office/drawing/2014/main" id="{D3BE2512-EE3A-234D-54AF-63F3E0EB64C5}"/>
              </a:ext>
            </a:extLst>
          </p:cNvPr>
          <p:cNvSpPr>
            <a:spLocks noGrp="1"/>
          </p:cNvSpPr>
          <p:nvPr>
            <p:ph idx="1"/>
          </p:nvPr>
        </p:nvSpPr>
        <p:spPr>
          <a:xfrm>
            <a:off x="865970" y="2652830"/>
            <a:ext cx="6633698" cy="3530600"/>
          </a:xfrm>
        </p:spPr>
        <p:txBody>
          <a:bodyPr>
            <a:normAutofit/>
          </a:bodyPr>
          <a:lstStyle/>
          <a:p>
            <a:pPr lvl="0"/>
            <a:r>
              <a:rPr lang="en-IN" sz="2800" dirty="0">
                <a:latin typeface="Times New Roman" panose="02020603050405020304" pitchFamily="18" charset="0"/>
                <a:cs typeface="Times New Roman" panose="02020603050405020304" pitchFamily="18" charset="0"/>
              </a:rPr>
              <a:t>Incidents of fraud are very low (~0.17)</a:t>
            </a:r>
          </a:p>
          <a:p>
            <a:pPr lvl="0"/>
            <a:r>
              <a:rPr lang="en-IN" sz="2800" dirty="0">
                <a:latin typeface="Times New Roman" panose="02020603050405020304" pitchFamily="18" charset="0"/>
                <a:cs typeface="Times New Roman" panose="02020603050405020304" pitchFamily="18" charset="0"/>
              </a:rPr>
              <a:t>Biased model towards the majority class.</a:t>
            </a:r>
          </a:p>
          <a:p>
            <a:pPr lvl="0"/>
            <a:r>
              <a:rPr lang="en-IN" sz="2800" dirty="0">
                <a:latin typeface="Times New Roman" panose="02020603050405020304" pitchFamily="18" charset="0"/>
                <a:cs typeface="Times New Roman" panose="02020603050405020304" pitchFamily="18" charset="0"/>
              </a:rPr>
              <a:t>Good precision and low fraud detection.</a:t>
            </a:r>
          </a:p>
          <a:p>
            <a:pPr lvl="0"/>
            <a:r>
              <a:rPr lang="en-IN" sz="2800" dirty="0">
                <a:latin typeface="Times New Roman" panose="02020603050405020304" pitchFamily="18" charset="0"/>
                <a:cs typeface="Times New Roman" panose="02020603050405020304" pitchFamily="18" charset="0"/>
              </a:rPr>
              <a:t>Unnoticed fraud results in loss of money.</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395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F2FFB-F59E-3755-A9B2-48D6297D1EAA}"/>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WHY IS ACCURACY MISLEADING?</a:t>
            </a:r>
          </a:p>
        </p:txBody>
      </p:sp>
      <p:sp>
        <p:nvSpPr>
          <p:cNvPr id="3" name="Content Placeholder 2">
            <a:extLst>
              <a:ext uri="{FF2B5EF4-FFF2-40B4-BE49-F238E27FC236}">
                <a16:creationId xmlns:a16="http://schemas.microsoft.com/office/drawing/2014/main" id="{A61C42C2-AA33-06C1-2164-C87B2DE816FD}"/>
              </a:ext>
            </a:extLst>
          </p:cNvPr>
          <p:cNvSpPr>
            <a:spLocks noGrp="1"/>
          </p:cNvSpPr>
          <p:nvPr>
            <p:ph idx="1"/>
          </p:nvPr>
        </p:nvSpPr>
        <p:spPr>
          <a:xfrm>
            <a:off x="875595" y="2614329"/>
            <a:ext cx="6701075" cy="3530600"/>
          </a:xfrm>
        </p:spPr>
        <p:txBody>
          <a:bodyPr>
            <a:normAutofit/>
          </a:bodyPr>
          <a:lstStyle/>
          <a:p>
            <a:pPr lvl="0"/>
            <a:r>
              <a:rPr lang="en-IN" sz="2800" dirty="0">
                <a:latin typeface="Times New Roman" panose="02020603050405020304" pitchFamily="18" charset="0"/>
                <a:cs typeface="Times New Roman" panose="02020603050405020304" pitchFamily="18" charset="0"/>
              </a:rPr>
              <a:t>Minority class is disregarded in accuracy.</a:t>
            </a:r>
          </a:p>
          <a:p>
            <a:pPr lvl="0"/>
            <a:r>
              <a:rPr lang="en-IN" sz="2800" dirty="0">
                <a:latin typeface="Times New Roman" panose="02020603050405020304" pitchFamily="18" charset="0"/>
                <a:cs typeface="Times New Roman" panose="02020603050405020304" pitchFamily="18" charset="0"/>
              </a:rPr>
              <a:t>Even 99% accuracy will fail.</a:t>
            </a:r>
          </a:p>
          <a:p>
            <a:pPr lvl="0"/>
            <a:r>
              <a:rPr lang="en-IN" sz="2800" dirty="0">
                <a:latin typeface="Times New Roman" panose="02020603050405020304" pitchFamily="18" charset="0"/>
                <a:cs typeface="Times New Roman" panose="02020603050405020304" pitchFamily="18" charset="0"/>
              </a:rPr>
              <a:t>False negatives are dangerous.</a:t>
            </a:r>
          </a:p>
          <a:p>
            <a:pPr lvl="0"/>
            <a:r>
              <a:rPr lang="en-IN" sz="2800" dirty="0">
                <a:latin typeface="Times New Roman" panose="02020603050405020304" pitchFamily="18" charset="0"/>
                <a:cs typeface="Times New Roman" panose="02020603050405020304" pitchFamily="18" charset="0"/>
              </a:rPr>
              <a:t>Not applicable to disproportional data.</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957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81BBC-10C7-6B9E-238C-5550E7CF35F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WHY PR-AUC IS PREFERRED?</a:t>
            </a:r>
          </a:p>
        </p:txBody>
      </p:sp>
      <p:sp>
        <p:nvSpPr>
          <p:cNvPr id="3" name="Content Placeholder 2">
            <a:extLst>
              <a:ext uri="{FF2B5EF4-FFF2-40B4-BE49-F238E27FC236}">
                <a16:creationId xmlns:a16="http://schemas.microsoft.com/office/drawing/2014/main" id="{AB8C870C-20DE-1414-1D56-B71460DB679D}"/>
              </a:ext>
            </a:extLst>
          </p:cNvPr>
          <p:cNvSpPr>
            <a:spLocks noGrp="1"/>
          </p:cNvSpPr>
          <p:nvPr>
            <p:ph idx="1"/>
          </p:nvPr>
        </p:nvSpPr>
        <p:spPr>
          <a:xfrm>
            <a:off x="865970" y="2681705"/>
            <a:ext cx="6672199" cy="3530600"/>
          </a:xfrm>
        </p:spPr>
        <p:txBody>
          <a:bodyPr>
            <a:normAutofit/>
          </a:bodyPr>
          <a:lstStyle/>
          <a:p>
            <a:pPr lvl="0"/>
            <a:r>
              <a:rPr lang="en-IN" sz="2800" dirty="0">
                <a:latin typeface="Times New Roman" panose="02020603050405020304" pitchFamily="18" charset="0"/>
                <a:cs typeface="Times New Roman" panose="02020603050405020304" pitchFamily="18" charset="0"/>
              </a:rPr>
              <a:t>Concentrates on the performance of fraud detection.</a:t>
            </a:r>
          </a:p>
          <a:p>
            <a:pPr lvl="0"/>
            <a:r>
              <a:rPr lang="en-IN" sz="2800" dirty="0">
                <a:latin typeface="Times New Roman" panose="02020603050405020304" pitchFamily="18" charset="0"/>
                <a:cs typeface="Times New Roman" panose="02020603050405020304" pitchFamily="18" charset="0"/>
              </a:rPr>
              <a:t>Is accurate and recalls well.</a:t>
            </a:r>
          </a:p>
          <a:p>
            <a:pPr lvl="0"/>
            <a:r>
              <a:rPr lang="en-IN" sz="2800" dirty="0">
                <a:latin typeface="Times New Roman" panose="02020603050405020304" pitchFamily="18" charset="0"/>
                <a:cs typeface="Times New Roman" panose="02020603050405020304" pitchFamily="18" charset="0"/>
              </a:rPr>
              <a:t>Appropriate for unbalanced databases.</a:t>
            </a:r>
          </a:p>
          <a:p>
            <a:pPr lvl="0"/>
            <a:r>
              <a:rPr lang="en-IN" sz="2800" dirty="0">
                <a:latin typeface="Times New Roman" panose="02020603050405020304" pitchFamily="18" charset="0"/>
                <a:cs typeface="Times New Roman" panose="02020603050405020304" pitchFamily="18" charset="0"/>
              </a:rPr>
              <a:t>Simulates behaviour in the real world.</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3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D2BAB-3081-6875-22EE-61C489FEF04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MODEL COMPARISON TABLE</a:t>
            </a:r>
          </a:p>
        </p:txBody>
      </p:sp>
      <p:sp>
        <p:nvSpPr>
          <p:cNvPr id="3" name="Content Placeholder 2">
            <a:extLst>
              <a:ext uri="{FF2B5EF4-FFF2-40B4-BE49-F238E27FC236}">
                <a16:creationId xmlns:a16="http://schemas.microsoft.com/office/drawing/2014/main" id="{00BE0FEE-28D9-85FC-2FEC-9223D1995B99}"/>
              </a:ext>
            </a:extLst>
          </p:cNvPr>
          <p:cNvSpPr>
            <a:spLocks noGrp="1"/>
          </p:cNvSpPr>
          <p:nvPr>
            <p:ph idx="1"/>
          </p:nvPr>
        </p:nvSpPr>
        <p:spPr/>
        <p:txBody>
          <a:bodyPr>
            <a:normAutofit/>
          </a:bodyPr>
          <a:lstStyle/>
          <a:p>
            <a:pPr lvl="0"/>
            <a:r>
              <a:rPr lang="en-IN" sz="1600" dirty="0">
                <a:latin typeface="Times New Roman" panose="02020603050405020304" pitchFamily="18" charset="0"/>
                <a:cs typeface="Times New Roman" panose="02020603050405020304" pitchFamily="18" charset="0"/>
              </a:rPr>
              <a:t>Logistic Regression: low accuracy.</a:t>
            </a:r>
          </a:p>
          <a:p>
            <a:pPr lvl="0"/>
            <a:r>
              <a:rPr lang="en-IN" sz="1600" dirty="0">
                <a:latin typeface="Times New Roman" panose="02020603050405020304" pitchFamily="18" charset="0"/>
                <a:cs typeface="Times New Roman" panose="02020603050405020304" pitchFamily="18" charset="0"/>
              </a:rPr>
              <a:t>Random Forest: an equal model.</a:t>
            </a:r>
          </a:p>
          <a:p>
            <a:pPr lvl="0"/>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high recall</a:t>
            </a:r>
          </a:p>
          <a:p>
            <a:r>
              <a:rPr lang="en-IN" sz="1600" dirty="0">
                <a:latin typeface="Times New Roman" panose="02020603050405020304" pitchFamily="18" charset="0"/>
                <a:cs typeface="Times New Roman" panose="02020603050405020304" pitchFamily="18" charset="0"/>
              </a:rPr>
              <a:t>PR-AUC is most suitable for assessing</a:t>
            </a:r>
          </a:p>
        </p:txBody>
      </p:sp>
      <p:graphicFrame>
        <p:nvGraphicFramePr>
          <p:cNvPr id="6" name="Table 5">
            <a:extLst>
              <a:ext uri="{FF2B5EF4-FFF2-40B4-BE49-F238E27FC236}">
                <a16:creationId xmlns:a16="http://schemas.microsoft.com/office/drawing/2014/main" id="{2B800D79-D7AF-5899-F955-05B2B0314A32}"/>
              </a:ext>
            </a:extLst>
          </p:cNvPr>
          <p:cNvGraphicFramePr>
            <a:graphicFrameLocks noGrp="1"/>
          </p:cNvGraphicFramePr>
          <p:nvPr>
            <p:extLst>
              <p:ext uri="{D42A27DB-BD31-4B8C-83A1-F6EECF244321}">
                <p14:modId xmlns:p14="http://schemas.microsoft.com/office/powerpoint/2010/main" val="2195996441"/>
              </p:ext>
            </p:extLst>
          </p:nvPr>
        </p:nvGraphicFramePr>
        <p:xfrm>
          <a:off x="1339849" y="3971704"/>
          <a:ext cx="6726122" cy="2679321"/>
        </p:xfrm>
        <a:graphic>
          <a:graphicData uri="http://schemas.openxmlformats.org/drawingml/2006/table">
            <a:tbl>
              <a:tblPr firstRow="1" firstCol="1" bandRow="1">
                <a:tableStyleId>{5C22544A-7EE6-4342-B048-85BDC9FD1C3A}</a:tableStyleId>
              </a:tblPr>
              <a:tblGrid>
                <a:gridCol w="1044473">
                  <a:extLst>
                    <a:ext uri="{9D8B030D-6E8A-4147-A177-3AD203B41FA5}">
                      <a16:colId xmlns:a16="http://schemas.microsoft.com/office/drawing/2014/main" val="1454176178"/>
                    </a:ext>
                  </a:extLst>
                </a:gridCol>
                <a:gridCol w="878973">
                  <a:extLst>
                    <a:ext uri="{9D8B030D-6E8A-4147-A177-3AD203B41FA5}">
                      <a16:colId xmlns:a16="http://schemas.microsoft.com/office/drawing/2014/main" val="4267408801"/>
                    </a:ext>
                  </a:extLst>
                </a:gridCol>
                <a:gridCol w="856008">
                  <a:extLst>
                    <a:ext uri="{9D8B030D-6E8A-4147-A177-3AD203B41FA5}">
                      <a16:colId xmlns:a16="http://schemas.microsoft.com/office/drawing/2014/main" val="3343685740"/>
                    </a:ext>
                  </a:extLst>
                </a:gridCol>
                <a:gridCol w="601819">
                  <a:extLst>
                    <a:ext uri="{9D8B030D-6E8A-4147-A177-3AD203B41FA5}">
                      <a16:colId xmlns:a16="http://schemas.microsoft.com/office/drawing/2014/main" val="3671291832"/>
                    </a:ext>
                  </a:extLst>
                </a:gridCol>
                <a:gridCol w="1122869">
                  <a:extLst>
                    <a:ext uri="{9D8B030D-6E8A-4147-A177-3AD203B41FA5}">
                      <a16:colId xmlns:a16="http://schemas.microsoft.com/office/drawing/2014/main" val="336898650"/>
                    </a:ext>
                  </a:extLst>
                </a:gridCol>
                <a:gridCol w="601819">
                  <a:extLst>
                    <a:ext uri="{9D8B030D-6E8A-4147-A177-3AD203B41FA5}">
                      <a16:colId xmlns:a16="http://schemas.microsoft.com/office/drawing/2014/main" val="4222759874"/>
                    </a:ext>
                  </a:extLst>
                </a:gridCol>
                <a:gridCol w="1620161">
                  <a:extLst>
                    <a:ext uri="{9D8B030D-6E8A-4147-A177-3AD203B41FA5}">
                      <a16:colId xmlns:a16="http://schemas.microsoft.com/office/drawing/2014/main" val="389778209"/>
                    </a:ext>
                  </a:extLst>
                </a:gridCol>
              </a:tblGrid>
              <a:tr h="0">
                <a:tc>
                  <a:txBody>
                    <a:bodyPr/>
                    <a:lstStyle/>
                    <a:p>
                      <a:pPr>
                        <a:lnSpc>
                          <a:spcPct val="115000"/>
                        </a:lnSpc>
                        <a:spcAft>
                          <a:spcPts val="1000"/>
                        </a:spcAft>
                        <a:buNone/>
                      </a:pPr>
                      <a:r>
                        <a:rPr lang="en-IN" sz="1200" kern="100">
                          <a:effectLst/>
                        </a:rPr>
                        <a:t>Model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Precision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Recall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F1-Score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ROC-AUC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PR-AUC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dirty="0">
                          <a:effectLst/>
                        </a:rPr>
                        <a:t>Key Insights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1996457"/>
                  </a:ext>
                </a:extLst>
              </a:tr>
              <a:tr h="758607">
                <a:tc>
                  <a:txBody>
                    <a:bodyPr/>
                    <a:lstStyle/>
                    <a:p>
                      <a:pPr>
                        <a:lnSpc>
                          <a:spcPct val="115000"/>
                        </a:lnSpc>
                        <a:spcAft>
                          <a:spcPts val="1000"/>
                        </a:spcAft>
                        <a:buNone/>
                      </a:pPr>
                      <a:r>
                        <a:rPr lang="en-IN" sz="1200" kern="100">
                          <a:effectLst/>
                        </a:rPr>
                        <a:t>Logistic Regression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0.06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0.92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Low</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0.9700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0.7667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High recall but extremely low precision (many false positives)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5287991"/>
                  </a:ext>
                </a:extLst>
              </a:tr>
              <a:tr h="604890">
                <a:tc>
                  <a:txBody>
                    <a:bodyPr/>
                    <a:lstStyle/>
                    <a:p>
                      <a:pPr>
                        <a:lnSpc>
                          <a:spcPct val="115000"/>
                        </a:lnSpc>
                        <a:spcAft>
                          <a:spcPts val="1000"/>
                        </a:spcAft>
                        <a:buNone/>
                      </a:pPr>
                      <a:r>
                        <a:rPr lang="en-IN" sz="1200" kern="100">
                          <a:effectLst/>
                        </a:rPr>
                        <a:t>Random Forest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0.87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0.83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High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0.9737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0.8746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Best balance between precision &amp; recall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0667400"/>
                  </a:ext>
                </a:extLst>
              </a:tr>
              <a:tr h="604890">
                <a:tc>
                  <a:txBody>
                    <a:bodyPr/>
                    <a:lstStyle/>
                    <a:p>
                      <a:pPr>
                        <a:lnSpc>
                          <a:spcPct val="115000"/>
                        </a:lnSpc>
                        <a:spcAft>
                          <a:spcPts val="1000"/>
                        </a:spcAft>
                        <a:buNone/>
                      </a:pPr>
                      <a:r>
                        <a:rPr lang="en-IN" sz="1200" kern="100">
                          <a:effectLst/>
                        </a:rPr>
                        <a:t>XGBoost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0.69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0.87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High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0.9753</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a:effectLst/>
                        </a:rPr>
                        <a:t>0.8736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IN" sz="1200" kern="100" dirty="0">
                          <a:effectLst/>
                        </a:rPr>
                        <a:t>Highest overall performance but slightly lower precision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6046643"/>
                  </a:ext>
                </a:extLst>
              </a:tr>
            </a:tbl>
          </a:graphicData>
        </a:graphic>
      </p:graphicFrame>
      <p:sp>
        <p:nvSpPr>
          <p:cNvPr id="7" name="Rectangle 2">
            <a:extLst>
              <a:ext uri="{FF2B5EF4-FFF2-40B4-BE49-F238E27FC236}">
                <a16:creationId xmlns:a16="http://schemas.microsoft.com/office/drawing/2014/main" id="{543EFDEC-493E-8BC8-E51B-8A852EBAAFF3}"/>
              </a:ext>
            </a:extLst>
          </p:cNvPr>
          <p:cNvSpPr>
            <a:spLocks noChangeArrowheads="1"/>
          </p:cNvSpPr>
          <p:nvPr/>
        </p:nvSpPr>
        <p:spPr bwMode="auto">
          <a:xfrm>
            <a:off x="1339850" y="28082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5018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63B2-43F4-7DCF-C277-0B07B75B2E1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PRECISION-RECALL CURVE</a:t>
            </a:r>
          </a:p>
        </p:txBody>
      </p:sp>
      <p:sp>
        <p:nvSpPr>
          <p:cNvPr id="3" name="Content Placeholder 2">
            <a:extLst>
              <a:ext uri="{FF2B5EF4-FFF2-40B4-BE49-F238E27FC236}">
                <a16:creationId xmlns:a16="http://schemas.microsoft.com/office/drawing/2014/main" id="{1EE565DB-D913-D9DB-B159-CDDE4D46DDB2}"/>
              </a:ext>
            </a:extLst>
          </p:cNvPr>
          <p:cNvSpPr>
            <a:spLocks noGrp="1"/>
          </p:cNvSpPr>
          <p:nvPr>
            <p:ph idx="1"/>
          </p:nvPr>
        </p:nvSpPr>
        <p:spPr>
          <a:xfrm>
            <a:off x="864382" y="2489200"/>
            <a:ext cx="7076460" cy="3530600"/>
          </a:xfrm>
        </p:spPr>
        <p:txBody>
          <a:bodyPr>
            <a:normAutofit/>
          </a:bodyPr>
          <a:lstStyle/>
          <a:p>
            <a:pPr lvl="0"/>
            <a:r>
              <a:rPr lang="en-IN" sz="2400" dirty="0">
                <a:latin typeface="Times New Roman" panose="02020603050405020304" pitchFamily="18" charset="0"/>
                <a:cs typeface="Times New Roman" panose="02020603050405020304" pitchFamily="18" charset="0"/>
              </a:rPr>
              <a:t>Demonstrates accuracy vs recall trade-off.</a:t>
            </a:r>
          </a:p>
          <a:p>
            <a:pPr lvl="0"/>
            <a:r>
              <a:rPr lang="en-IN" sz="2400" dirty="0">
                <a:latin typeface="Times New Roman" panose="02020603050405020304" pitchFamily="18" charset="0"/>
                <a:cs typeface="Times New Roman" panose="02020603050405020304" pitchFamily="18" charset="0"/>
              </a:rPr>
              <a:t>Most stable random forest.</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slightly fluctuates</a:t>
            </a:r>
          </a:p>
          <a:p>
            <a:pPr lvl="0"/>
            <a:r>
              <a:rPr lang="en-IN" sz="2400" dirty="0">
                <a:latin typeface="Times New Roman" panose="02020603050405020304" pitchFamily="18" charset="0"/>
                <a:cs typeface="Times New Roman" panose="02020603050405020304" pitchFamily="18" charset="0"/>
              </a:rPr>
              <a:t>Logistic Regression is fast to drop.</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image10.png">
            <a:extLst>
              <a:ext uri="{FF2B5EF4-FFF2-40B4-BE49-F238E27FC236}">
                <a16:creationId xmlns:a16="http://schemas.microsoft.com/office/drawing/2014/main" id="{1A1C1157-EF87-B5FF-9EEA-5B5FEF3A918B}"/>
              </a:ext>
            </a:extLst>
          </p:cNvPr>
          <p:cNvPicPr/>
          <p:nvPr/>
        </p:nvPicPr>
        <p:blipFill>
          <a:blip r:embed="rId3"/>
          <a:srcRect/>
          <a:stretch>
            <a:fillRect/>
          </a:stretch>
        </p:blipFill>
        <p:spPr>
          <a:xfrm>
            <a:off x="4402612" y="4639512"/>
            <a:ext cx="2976027" cy="1765300"/>
          </a:xfrm>
          <a:prstGeom prst="rect">
            <a:avLst/>
          </a:prstGeom>
          <a:ln/>
        </p:spPr>
      </p:pic>
    </p:spTree>
    <p:extLst>
      <p:ext uri="{BB962C8B-B14F-4D97-AF65-F5344CB8AC3E}">
        <p14:creationId xmlns:p14="http://schemas.microsoft.com/office/powerpoint/2010/main" val="3933415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23EF-16DF-FD0F-9608-108351559EE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MODEL PERFORMANCE (BAR CHART)</a:t>
            </a:r>
          </a:p>
        </p:txBody>
      </p:sp>
      <p:sp>
        <p:nvSpPr>
          <p:cNvPr id="3" name="Content Placeholder 2">
            <a:extLst>
              <a:ext uri="{FF2B5EF4-FFF2-40B4-BE49-F238E27FC236}">
                <a16:creationId xmlns:a16="http://schemas.microsoft.com/office/drawing/2014/main" id="{6F716BED-8057-313C-C171-374C187DC6EE}"/>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Comparison of models visually.</a:t>
            </a:r>
          </a:p>
          <a:p>
            <a:pPr lvl="0"/>
            <a:r>
              <a:rPr lang="en-IN" sz="2400" dirty="0">
                <a:latin typeface="Times New Roman" panose="02020603050405020304" pitchFamily="18" charset="0"/>
                <a:cs typeface="Times New Roman" panose="02020603050405020304" pitchFamily="18" charset="0"/>
              </a:rPr>
              <a:t>Random Forest is best balanced.</a:t>
            </a:r>
          </a:p>
          <a:p>
            <a:pPr lvl="0"/>
            <a:r>
              <a:rPr lang="en-IN" sz="2400" dirty="0" err="1">
                <a:latin typeface="Times New Roman" panose="02020603050405020304" pitchFamily="18" charset="0"/>
                <a:cs typeface="Times New Roman" panose="02020603050405020304" pitchFamily="18" charset="0"/>
              </a:rPr>
              <a:t>XGBoost</a:t>
            </a:r>
            <a:r>
              <a:rPr lang="en-IN" sz="2400" dirty="0">
                <a:latin typeface="Times New Roman" panose="02020603050405020304" pitchFamily="18" charset="0"/>
                <a:cs typeface="Times New Roman" panose="02020603050405020304" pitchFamily="18" charset="0"/>
              </a:rPr>
              <a:t> highest recall</a:t>
            </a:r>
          </a:p>
          <a:p>
            <a:pPr lvl="0"/>
            <a:r>
              <a:rPr lang="en-IN" sz="2400" dirty="0">
                <a:latin typeface="Times New Roman" panose="02020603050405020304" pitchFamily="18" charset="0"/>
                <a:cs typeface="Times New Roman" panose="02020603050405020304" pitchFamily="18" charset="0"/>
              </a:rPr>
              <a:t>Logistic Regression weakest</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image2.png">
            <a:extLst>
              <a:ext uri="{FF2B5EF4-FFF2-40B4-BE49-F238E27FC236}">
                <a16:creationId xmlns:a16="http://schemas.microsoft.com/office/drawing/2014/main" id="{AC39CD52-361E-CBCB-A338-7710D4075607}"/>
              </a:ext>
            </a:extLst>
          </p:cNvPr>
          <p:cNvPicPr/>
          <p:nvPr/>
        </p:nvPicPr>
        <p:blipFill>
          <a:blip r:embed="rId3"/>
          <a:srcRect/>
          <a:stretch>
            <a:fillRect/>
          </a:stretch>
        </p:blipFill>
        <p:spPr>
          <a:xfrm>
            <a:off x="3560828" y="4408370"/>
            <a:ext cx="3985895" cy="1974182"/>
          </a:xfrm>
          <a:prstGeom prst="rect">
            <a:avLst/>
          </a:prstGeom>
          <a:ln/>
        </p:spPr>
      </p:pic>
    </p:spTree>
    <p:extLst>
      <p:ext uri="{BB962C8B-B14F-4D97-AF65-F5344CB8AC3E}">
        <p14:creationId xmlns:p14="http://schemas.microsoft.com/office/powerpoint/2010/main" val="1877387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1875-A221-3B0B-FF8A-BF949D8CA34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CRITICAL DISCUSSION</a:t>
            </a:r>
          </a:p>
        </p:txBody>
      </p:sp>
      <p:sp>
        <p:nvSpPr>
          <p:cNvPr id="3" name="Content Placeholder 2">
            <a:extLst>
              <a:ext uri="{FF2B5EF4-FFF2-40B4-BE49-F238E27FC236}">
                <a16:creationId xmlns:a16="http://schemas.microsoft.com/office/drawing/2014/main" id="{62640692-306E-8028-994A-B12D2F775F4B}"/>
              </a:ext>
            </a:extLst>
          </p:cNvPr>
          <p:cNvSpPr>
            <a:spLocks noGrp="1"/>
          </p:cNvSpPr>
          <p:nvPr>
            <p:ph idx="1"/>
          </p:nvPr>
        </p:nvSpPr>
        <p:spPr>
          <a:xfrm>
            <a:off x="865970" y="2672080"/>
            <a:ext cx="6720325" cy="3530600"/>
          </a:xfrm>
        </p:spPr>
        <p:txBody>
          <a:bodyPr>
            <a:normAutofit/>
          </a:bodyPr>
          <a:lstStyle/>
          <a:p>
            <a:pPr lvl="0"/>
            <a:r>
              <a:rPr lang="en-IN" sz="2800" dirty="0">
                <a:latin typeface="Times New Roman" panose="02020603050405020304" pitchFamily="18" charset="0"/>
                <a:cs typeface="Times New Roman" panose="02020603050405020304" pitchFamily="18" charset="0"/>
              </a:rPr>
              <a:t>Logistic Regression does not work (linear model)</a:t>
            </a:r>
          </a:p>
          <a:p>
            <a:pPr lvl="0"/>
            <a:r>
              <a:rPr lang="en-IN" sz="2800" dirty="0">
                <a:latin typeface="Times New Roman" panose="02020603050405020304" pitchFamily="18" charset="0"/>
                <a:cs typeface="Times New Roman" panose="02020603050405020304" pitchFamily="18" charset="0"/>
              </a:rPr>
              <a:t>Random Forest is less interpretable.</a:t>
            </a:r>
          </a:p>
          <a:p>
            <a:pPr lvl="0"/>
            <a:r>
              <a:rPr lang="en-IN" sz="2800" dirty="0" err="1">
                <a:latin typeface="Times New Roman" panose="02020603050405020304" pitchFamily="18" charset="0"/>
                <a:cs typeface="Times New Roman" panose="02020603050405020304" pitchFamily="18" charset="0"/>
              </a:rPr>
              <a:t>XGBoost</a:t>
            </a:r>
            <a:r>
              <a:rPr lang="en-IN" sz="2800" dirty="0">
                <a:latin typeface="Times New Roman" panose="02020603050405020304" pitchFamily="18" charset="0"/>
                <a:cs typeface="Times New Roman" panose="02020603050405020304" pitchFamily="18" charset="0"/>
              </a:rPr>
              <a:t> is computationally expensive</a:t>
            </a:r>
          </a:p>
          <a:p>
            <a:pPr lvl="0"/>
            <a:r>
              <a:rPr lang="en-IN" sz="2800" dirty="0" err="1">
                <a:latin typeface="Times New Roman" panose="02020603050405020304" pitchFamily="18" charset="0"/>
                <a:cs typeface="Times New Roman" panose="02020603050405020304" pitchFamily="18" charset="0"/>
              </a:rPr>
              <a:t>Tradeoffs</a:t>
            </a:r>
            <a:r>
              <a:rPr lang="en-IN" sz="2800" dirty="0">
                <a:latin typeface="Times New Roman" panose="02020603050405020304" pitchFamily="18" charset="0"/>
                <a:cs typeface="Times New Roman" panose="02020603050405020304" pitchFamily="18" charset="0"/>
              </a:rPr>
              <a:t> in model choice.</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3963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472FC-B264-70A7-BC06-630FA2F0097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CB73B64C-1D1A-1A0D-62CD-2D1830675804}"/>
              </a:ext>
            </a:extLst>
          </p:cNvPr>
          <p:cNvSpPr>
            <a:spLocks noGrp="1"/>
          </p:cNvSpPr>
          <p:nvPr>
            <p:ph idx="1"/>
          </p:nvPr>
        </p:nvSpPr>
        <p:spPr>
          <a:xfrm>
            <a:off x="865970" y="2720206"/>
            <a:ext cx="6345260" cy="3530600"/>
          </a:xfrm>
        </p:spPr>
        <p:txBody>
          <a:bodyPr>
            <a:normAutofit/>
          </a:bodyPr>
          <a:lstStyle/>
          <a:p>
            <a:pPr lvl="0"/>
            <a:r>
              <a:rPr lang="en-IN" sz="2800" dirty="0">
                <a:latin typeface="Times New Roman" panose="02020603050405020304" pitchFamily="18" charset="0"/>
                <a:cs typeface="Times New Roman" panose="02020603050405020304" pitchFamily="18" charset="0"/>
              </a:rPr>
              <a:t>Anonymised dataset</a:t>
            </a:r>
          </a:p>
          <a:p>
            <a:pPr lvl="0"/>
            <a:r>
              <a:rPr lang="en-IN" sz="2800" dirty="0">
                <a:latin typeface="Times New Roman" panose="02020603050405020304" pitchFamily="18" charset="0"/>
                <a:cs typeface="Times New Roman" panose="02020603050405020304" pitchFamily="18" charset="0"/>
              </a:rPr>
              <a:t>Offline evaluation only</a:t>
            </a:r>
          </a:p>
          <a:p>
            <a:pPr lvl="0"/>
            <a:r>
              <a:rPr lang="en-IN" sz="2800" dirty="0">
                <a:latin typeface="Times New Roman" panose="02020603050405020304" pitchFamily="18" charset="0"/>
                <a:cs typeface="Times New Roman" panose="02020603050405020304" pitchFamily="18" charset="0"/>
              </a:rPr>
              <a:t>SMOTE overfitting.</a:t>
            </a:r>
          </a:p>
          <a:p>
            <a:pPr lvl="0"/>
            <a:r>
              <a:rPr lang="en-IN" sz="2800" dirty="0">
                <a:latin typeface="Times New Roman" panose="02020603050405020304" pitchFamily="18" charset="0"/>
                <a:cs typeface="Times New Roman" panose="02020603050405020304" pitchFamily="18" charset="0"/>
              </a:rPr>
              <a:t>No real-time testing</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2351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B15C0-519C-828C-8015-3C0BB7401F9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91EB5B24-AC24-A34C-3C8F-D345F2CE890F}"/>
              </a:ext>
            </a:extLst>
          </p:cNvPr>
          <p:cNvSpPr>
            <a:spLocks noGrp="1"/>
          </p:cNvSpPr>
          <p:nvPr>
            <p:ph idx="1"/>
          </p:nvPr>
        </p:nvSpPr>
        <p:spPr/>
        <p:txBody>
          <a:bodyPr>
            <a:normAutofit/>
          </a:bodyPr>
          <a:lstStyle/>
          <a:p>
            <a:pPr lvl="0"/>
            <a:r>
              <a:rPr lang="en-IN" sz="2800" dirty="0">
                <a:latin typeface="Times New Roman" panose="02020603050405020304" pitchFamily="18" charset="0"/>
                <a:cs typeface="Times New Roman" panose="02020603050405020304" pitchFamily="18" charset="0"/>
              </a:rPr>
              <a:t>Live fraud protection systems.</a:t>
            </a:r>
          </a:p>
          <a:p>
            <a:pPr lvl="0"/>
            <a:r>
              <a:rPr lang="en-IN" sz="2800" dirty="0">
                <a:latin typeface="Times New Roman" panose="02020603050405020304" pitchFamily="18" charset="0"/>
                <a:cs typeface="Times New Roman" panose="02020603050405020304" pitchFamily="18" charset="0"/>
              </a:rPr>
              <a:t>Deep learning models</a:t>
            </a:r>
          </a:p>
          <a:p>
            <a:pPr lvl="0"/>
            <a:r>
              <a:rPr lang="en-IN" sz="2800" dirty="0">
                <a:latin typeface="Times New Roman" panose="02020603050405020304" pitchFamily="18" charset="0"/>
                <a:cs typeface="Times New Roman" panose="02020603050405020304" pitchFamily="18" charset="0"/>
              </a:rPr>
              <a:t>Explainable AI techniques</a:t>
            </a:r>
          </a:p>
          <a:p>
            <a:pPr lvl="0"/>
            <a:r>
              <a:rPr lang="en-IN" sz="2800" dirty="0">
                <a:latin typeface="Times New Roman" panose="02020603050405020304" pitchFamily="18" charset="0"/>
                <a:cs typeface="Times New Roman" panose="02020603050405020304" pitchFamily="18" charset="0"/>
              </a:rPr>
              <a:t>Advanced imbalance methods</a:t>
            </a:r>
          </a:p>
          <a:p>
            <a:pPr marL="0" indent="0">
              <a:buNone/>
            </a:pPr>
            <a:endParaRPr lang="en-IN" sz="28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A82AFE77-2E50-AFDD-6B9C-6F8AF74E68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60" r="16084" b="25226"/>
          <a:stretch>
            <a:fillRect/>
          </a:stretch>
        </p:blipFill>
        <p:spPr bwMode="auto">
          <a:xfrm>
            <a:off x="4494997" y="4774129"/>
            <a:ext cx="3051209" cy="1761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514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EB8DB-D36B-267F-6360-AF0AEE6501E8}"/>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ETHICAL CONSIDERATIONS</a:t>
            </a:r>
          </a:p>
        </p:txBody>
      </p:sp>
      <p:sp>
        <p:nvSpPr>
          <p:cNvPr id="3" name="Content Placeholder 2">
            <a:extLst>
              <a:ext uri="{FF2B5EF4-FFF2-40B4-BE49-F238E27FC236}">
                <a16:creationId xmlns:a16="http://schemas.microsoft.com/office/drawing/2014/main" id="{88BFCAF6-299A-F2F9-BD2A-1DB48F59D235}"/>
              </a:ext>
            </a:extLst>
          </p:cNvPr>
          <p:cNvSpPr>
            <a:spLocks noGrp="1"/>
          </p:cNvSpPr>
          <p:nvPr>
            <p:ph idx="1"/>
          </p:nvPr>
        </p:nvSpPr>
        <p:spPr/>
        <p:txBody>
          <a:bodyPr>
            <a:normAutofit/>
          </a:bodyPr>
          <a:lstStyle/>
          <a:p>
            <a:pPr lvl="0"/>
            <a:r>
              <a:rPr lang="en-IN" sz="2800" dirty="0">
                <a:latin typeface="Times New Roman" panose="02020603050405020304" pitchFamily="18" charset="0"/>
                <a:cs typeface="Times New Roman" panose="02020603050405020304" pitchFamily="18" charset="0"/>
              </a:rPr>
              <a:t>Users are affected by false positives</a:t>
            </a:r>
          </a:p>
          <a:p>
            <a:pPr lvl="0"/>
            <a:r>
              <a:rPr lang="en-IN" sz="2800" dirty="0">
                <a:latin typeface="Times New Roman" panose="02020603050405020304" pitchFamily="18" charset="0"/>
                <a:cs typeface="Times New Roman" panose="02020603050405020304" pitchFamily="18" charset="0"/>
              </a:rPr>
              <a:t>Bias in predictions</a:t>
            </a:r>
          </a:p>
          <a:p>
            <a:pPr lvl="0"/>
            <a:r>
              <a:rPr lang="en-IN" sz="2800" dirty="0">
                <a:latin typeface="Times New Roman" panose="02020603050405020304" pitchFamily="18" charset="0"/>
                <a:cs typeface="Times New Roman" panose="02020603050405020304" pitchFamily="18" charset="0"/>
              </a:rPr>
              <a:t>Data privacy concerns</a:t>
            </a:r>
          </a:p>
          <a:p>
            <a:pPr lvl="0"/>
            <a:r>
              <a:rPr lang="en-IN" sz="2800" dirty="0">
                <a:latin typeface="Times New Roman" panose="02020603050405020304" pitchFamily="18" charset="0"/>
                <a:cs typeface="Times New Roman" panose="02020603050405020304" pitchFamily="18" charset="0"/>
              </a:rPr>
              <a:t>Need for transparency</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31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64382" y="2489200"/>
            <a:ext cx="7413344" cy="3530600"/>
          </a:xfrm>
        </p:spPr>
        <p:txBody>
          <a:bodyPr>
            <a:normAutofit/>
          </a:bodyPr>
          <a:lstStyle/>
          <a:p>
            <a:r>
              <a:rPr sz="2400" dirty="0">
                <a:latin typeface="Times New Roman" panose="02020603050405020304" pitchFamily="18" charset="0"/>
                <a:cs typeface="Times New Roman" panose="02020603050405020304" pitchFamily="18" charset="0"/>
              </a:rPr>
              <a:t>ML enhances the detection of fraud.</a:t>
            </a:r>
          </a:p>
          <a:p>
            <a:r>
              <a:rPr sz="2400" dirty="0">
                <a:latin typeface="Times New Roman" panose="02020603050405020304" pitchFamily="18" charset="0"/>
                <a:cs typeface="Times New Roman" panose="02020603050405020304" pitchFamily="18" charset="0"/>
              </a:rPr>
              <a:t>Handling of class imbalance is important.</a:t>
            </a:r>
          </a:p>
          <a:p>
            <a:r>
              <a:rPr sz="2400" dirty="0" err="1">
                <a:latin typeface="Times New Roman" panose="02020603050405020304" pitchFamily="18" charset="0"/>
                <a:cs typeface="Times New Roman" panose="02020603050405020304" pitchFamily="18" charset="0"/>
              </a:rPr>
              <a:t>XGBoost</a:t>
            </a:r>
            <a:r>
              <a:rPr sz="2400" dirty="0">
                <a:latin typeface="Times New Roman" panose="02020603050405020304" pitchFamily="18" charset="0"/>
                <a:cs typeface="Times New Roman" panose="02020603050405020304" pitchFamily="18" charset="0"/>
              </a:rPr>
              <a:t> performs best</a:t>
            </a:r>
          </a:p>
          <a:p>
            <a:r>
              <a:rPr sz="2400" dirty="0">
                <a:latin typeface="Times New Roman" panose="02020603050405020304" pitchFamily="18" charset="0"/>
                <a:cs typeface="Times New Roman" panose="02020603050405020304" pitchFamily="18" charset="0"/>
              </a:rPr>
              <a:t>Future improvement possibilities.</a:t>
            </a:r>
          </a:p>
        </p:txBody>
      </p:sp>
      <p:pic>
        <p:nvPicPr>
          <p:cNvPr id="2050" name="Picture 2">
            <a:extLst>
              <a:ext uri="{FF2B5EF4-FFF2-40B4-BE49-F238E27FC236}">
                <a16:creationId xmlns:a16="http://schemas.microsoft.com/office/drawing/2014/main" id="{54C045C6-7EFC-46D1-895D-6CF70EAACC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52" t="27310" r="12526" b="4047"/>
          <a:stretch>
            <a:fillRect/>
          </a:stretch>
        </p:blipFill>
        <p:spPr bwMode="auto">
          <a:xfrm>
            <a:off x="4888687" y="4485507"/>
            <a:ext cx="3580598" cy="207892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64381" y="2489200"/>
            <a:ext cx="7403719" cy="3530600"/>
          </a:xfrm>
        </p:spPr>
        <p:txBody>
          <a:bodyPr>
            <a:noAutofit/>
          </a:bodyPr>
          <a:lstStyle/>
          <a:p>
            <a:pPr lvl="0"/>
            <a:r>
              <a:rPr lang="en-IN" dirty="0" err="1">
                <a:latin typeface="Times New Roman" panose="02020603050405020304" pitchFamily="18" charset="0"/>
                <a:cs typeface="Times New Roman" panose="02020603050405020304" pitchFamily="18" charset="0"/>
              </a:rPr>
              <a:t>Btoush</a:t>
            </a:r>
            <a:r>
              <a:rPr lang="en-IN" dirty="0">
                <a:latin typeface="Times New Roman" panose="02020603050405020304" pitchFamily="18" charset="0"/>
                <a:cs typeface="Times New Roman" panose="02020603050405020304" pitchFamily="18" charset="0"/>
              </a:rPr>
              <a:t>, E.A.L.M., Zhou, X., Gururajan, R., Chan, K.C., Genrich, R. and Sankaran, P., 2023. A systematic review of literature on credit card cyber fraud detection using machine and deep learning. </a:t>
            </a:r>
            <a:r>
              <a:rPr lang="en-IN" i="1" dirty="0" err="1">
                <a:latin typeface="Times New Roman" panose="02020603050405020304" pitchFamily="18" charset="0"/>
                <a:cs typeface="Times New Roman" panose="02020603050405020304" pitchFamily="18" charset="0"/>
              </a:rPr>
              <a:t>PeerJ</a:t>
            </a:r>
            <a:r>
              <a:rPr lang="en-IN" i="1" dirty="0">
                <a:latin typeface="Times New Roman" panose="02020603050405020304" pitchFamily="18" charset="0"/>
                <a:cs typeface="Times New Roman" panose="02020603050405020304" pitchFamily="18" charset="0"/>
              </a:rPr>
              <a:t> Computer Science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9</a:t>
            </a:r>
            <a:r>
              <a:rPr lang="en-IN" dirty="0">
                <a:latin typeface="Times New Roman" panose="02020603050405020304" pitchFamily="18" charset="0"/>
                <a:cs typeface="Times New Roman" panose="02020603050405020304" pitchFamily="18" charset="0"/>
              </a:rPr>
              <a:t>, p.e1278.</a:t>
            </a:r>
          </a:p>
          <a:p>
            <a:pPr lvl="0"/>
            <a:r>
              <a:rPr lang="en-IN" dirty="0">
                <a:latin typeface="Times New Roman" panose="02020603050405020304" pitchFamily="18" charset="0"/>
                <a:cs typeface="Times New Roman" panose="02020603050405020304" pitchFamily="18" charset="0"/>
              </a:rPr>
              <a:t>Chhabra, R., Goswami, S. and Ranjan, R.K., 2024. A voting ensemble machine learning based credit card fraud detection using highly imbalance data. </a:t>
            </a:r>
            <a:r>
              <a:rPr lang="en-IN" i="1" dirty="0">
                <a:latin typeface="Times New Roman" panose="02020603050405020304" pitchFamily="18" charset="0"/>
                <a:cs typeface="Times New Roman" panose="02020603050405020304" pitchFamily="18" charset="0"/>
              </a:rPr>
              <a:t>Multimedia Tools and Applications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83</a:t>
            </a:r>
            <a:r>
              <a:rPr lang="en-IN" dirty="0">
                <a:latin typeface="Times New Roman" panose="02020603050405020304" pitchFamily="18" charset="0"/>
                <a:cs typeface="Times New Roman" panose="02020603050405020304" pitchFamily="18" charset="0"/>
              </a:rPr>
              <a:t>(18), pp.54729-54753.</a:t>
            </a:r>
          </a:p>
          <a:p>
            <a:pPr lvl="0"/>
            <a:r>
              <a:rPr lang="en-IN" dirty="0">
                <a:latin typeface="Times New Roman" panose="02020603050405020304" pitchFamily="18" charset="0"/>
                <a:cs typeface="Times New Roman" panose="02020603050405020304" pitchFamily="18" charset="0"/>
              </a:rPr>
              <a:t>Dunleavy, P. and Margetts, H., 2025. Data science, artificial intelligence and the third wave of digital era governance. </a:t>
            </a:r>
            <a:r>
              <a:rPr lang="en-IN" i="1" dirty="0">
                <a:latin typeface="Times New Roman" panose="02020603050405020304" pitchFamily="18" charset="0"/>
                <a:cs typeface="Times New Roman" panose="02020603050405020304" pitchFamily="18" charset="0"/>
              </a:rPr>
              <a:t>Public Policy and Administration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40</a:t>
            </a:r>
            <a:r>
              <a:rPr lang="en-IN" dirty="0">
                <a:latin typeface="Times New Roman" panose="02020603050405020304" pitchFamily="18" charset="0"/>
                <a:cs typeface="Times New Roman" panose="02020603050405020304" pitchFamily="18" charset="0"/>
              </a:rPr>
              <a:t>(2), pp.185-214.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ABE7-E3BA-9DEC-83C9-2C3E1F693387}"/>
              </a:ext>
            </a:extLst>
          </p:cNvPr>
          <p:cNvSpPr>
            <a:spLocks noGrp="1"/>
          </p:cNvSpPr>
          <p:nvPr>
            <p:ph type="title"/>
          </p:nvPr>
        </p:nvSpPr>
        <p:spPr/>
        <p:txBody>
          <a:bodyPr/>
          <a:lstStyle/>
          <a:p>
            <a:pPr algn="ctr"/>
            <a:r>
              <a:rPr lang="en-US" sz="3600" b="1" dirty="0">
                <a:latin typeface="Times New Roman" panose="02020603050405020304" pitchFamily="18" charset="0"/>
                <a:cs typeface="Times New Roman" panose="02020603050405020304" pitchFamily="18" charset="0"/>
              </a:rPr>
              <a:t>THANK YOU !!</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23389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87</TotalTime>
  <Words>2080</Words>
  <Application>Microsoft Office PowerPoint</Application>
  <PresentationFormat>On-screen Show (4:3)</PresentationFormat>
  <Paragraphs>147</Paragraphs>
  <Slides>21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Times New Roman</vt:lpstr>
      <vt:lpstr>Wingdings 3</vt:lpstr>
      <vt:lpstr>Ion Boardroom</vt:lpstr>
      <vt:lpstr>CREDIT CARD FRAUD DETECTION USING MACHINE LEARNING</vt:lpstr>
      <vt:lpstr>INTRODUCTION</vt:lpstr>
      <vt:lpstr>AIM &amp; OBJECTIVES</vt:lpstr>
      <vt:lpstr>RESEARCH QUESTIONS</vt:lpstr>
      <vt:lpstr>LITERATURE REVIEW</vt:lpstr>
      <vt:lpstr>METHODOLOGY</vt:lpstr>
      <vt:lpstr>DATA PREPROCESSING</vt:lpstr>
      <vt:lpstr>HANDLING CLASS IMBALANCE</vt:lpstr>
      <vt:lpstr>WHY CLASS IMBALANCE IS A PROBLEM?</vt:lpstr>
      <vt:lpstr>WHY IS ACCURACY MISLEADING?</vt:lpstr>
      <vt:lpstr>WHY PR-AUC IS PREFERRED?</vt:lpstr>
      <vt:lpstr>MODEL COMPARISON TABLE</vt:lpstr>
      <vt:lpstr>PRECISION-RECALL CURVE</vt:lpstr>
      <vt:lpstr>MODEL PERFORMANCE (BAR CHART)</vt:lpstr>
      <vt:lpstr>CRITICAL DISCUSSION</vt:lpstr>
      <vt:lpstr>LIMITATIONS</vt:lpstr>
      <vt:lpstr>FUTURE WORK</vt:lpstr>
      <vt:lpstr>ETHICAL CONSIDERATIONS</vt:lpstr>
      <vt:lpstr>CONCLUSION</vt:lpstr>
      <vt:lpstr>REFERENCES</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GADAM YASHWANTH</dc:creator>
  <cp:keywords/>
  <cp:lastModifiedBy>GADAM YASHWANTH</cp:lastModifiedBy>
  <cp:revision>41</cp:revision>
  <dcterms:created xsi:type="dcterms:W3CDTF">2013-01-27T09:14:16Z</dcterms:created>
  <dcterms:modified xsi:type="dcterms:W3CDTF">2026-04-26T13:30:46Z</dcterms:modified>
  <cp:category/>
</cp:coreProperties>
</file>